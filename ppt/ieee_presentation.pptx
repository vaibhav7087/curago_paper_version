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Three authors, Bylance Technologies. The paper and deck are generated from committed artifacts — nothing is hand-typed.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conference outline, same as the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abstract with the locked headline numbers. Every figure here is also in the 6-page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 decisions and the honest-data philosophy before any method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honest problems: unsafe default, evaluation leakage, missing labels. Everything else in the deck is a response to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against the clinical baseline (NEWS2) â€” the paper reports we cannot match 0.85 recall with any NEWS2 cutoff.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PAC rule as the honest upgrade of textbook conformal recall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why the outbreak module reports enrichment instead of precision/recall.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methodology in one slide: model selection, thresholding, abstention, conformal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intake, Module 1 triage with abstention, Module 2 surveillance, forecasting.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calibration story: why isotonic was pre-selected and what the probabilities are (and are not) used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nested protocol: this is what makes the 0.829 recall number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methodological contribution: PAC rank selection. Lower rank â†’ lower threshold â†’ higher recall, at a small precision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datasets are public; raw data lives outside git and the pipeline fails closed without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with their honest qualifiers attached. Numbers follow directly from the tables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is the differentiator: the primary model has the best Brier while staying at the top of the AUC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default row first (unsafe), then the nested row (the number we stand behind).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PAC rule trades a little precision for a bounded below-target share at every 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paired difference CI [0.012, 0.031] excludes zero â€” the AUC gain is real but modest; calibration is the bigger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of the honest core: the marginal rule scatters below 0.85; the PAC rule shifts mass above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honesty: what we proved, what we deliberately did not claim, and what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13-item bibliography as the compiled paper — citation numbering is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Repo link points to the committed artifacts behind every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curago_paper_version\ppt\assets\iee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600200" cy="2798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Nexathon II · Paper Presentation · AIKTC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160020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Real-Data Machine Learning for Telemedicine Triage and Outbreak Surveillance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Vaibhav Kadam  ·  Tanvi Gandhi  ·  Omkar Shinolikar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42793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Bylance Technologies, India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892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October 2026  ·  IEEE conference format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public data only · no synthetic records · seed-42 byte-identical reruns · fail-closed pipeline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0160" y="1280160"/>
            <a:ext cx="6583680" cy="5120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Telemedicine platforms face two simultaneous decisions: which visit needs urgent escalation, and is a district-level outbreak beginning.</a:t>
            </a:r>
            <a:endParaRPr lang="en-US" sz="17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public data only — CDC NHAMCS 2019 ED (n = 13,595), COVID-19 India district-weeks (126,712), Kaggle pharma sales; fail-closed if raw data is missing.</a:t>
            </a:r>
            <a:endParaRPr lang="en-US" sz="17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model fixed by a pre-declared rule (min OOF Brier): unweighted XGBoost + isotonic — AUC 0.742 [0.728, 0.751], Brier 0.113 vs 0.129 constant.</a:t>
            </a:r>
            <a:endParaRPr lang="en-US" sz="17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Nested cross-fitted threshold: recall 0.829, under-triage 0.172, FPR 0.545.</a:t>
            </a:r>
            <a:endParaRPr lang="en-US" sz="17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split-conformal rule (δ = 0.10): mean recall 0.900 with 3.5% of splits below target (marginal: 0.884 / 12.5%).</a:t>
            </a:r>
            <a:endParaRPr lang="en-US" sz="17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Outbreak module: 7.0× descriptive enrichment at a 5% alert budget — reported as enrichment, never as detection rates.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everyday decisions on a telemedicine platform, answered only with public data.</a:t>
            </a:r>
            <a:endParaRPr lang="en-US" sz="19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1 — patient level: route an encounter to urgent care or routine advice. Errors are asymmetric: under-triage can be fatal.</a:t>
            </a:r>
            <a:endParaRPr lang="en-US" sz="19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2 — population level: detect district-week outbreak signals under a fixed alert budget.</a:t>
            </a:r>
            <a:endParaRPr lang="en-US" sz="19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Supplementary: pharmaceutical demand forecasting as a robustness check (naive baselines win 4/8 drugs — reported).</a:t>
            </a:r>
            <a:endParaRPr lang="en-US" sz="19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Safety-first framing: sensitivity is prioritized, and every claim is audit-locked to a committed artifact.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Default threshold t = 0.50 is clinically unsafe: recall 0.141 → under-triage 85.9% (FPR 0.016).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Thresholds tuned and evaluated on the same data overstate performance — nested cross-fitting is required for an honest estimate.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textbook conformal guarantee is only marginal: 12.5% of splits miss the 0.85 target.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Outbreak data has no gold-standard labels — precision, recall and ROC cannot be honestly computed.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Objective: conservative operating points + calibrated claims, all from real public data.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7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severity scores (NEWS2):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Vitals-only bedside score — cutoff ≥5: recall 0.138, precision 0.207; best cutoff 1: 0.669 / 0.168.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cutoff ≥1 reaches 0.85 recall on calibration — matched comparison infeasible (documented).</a:t>
            </a:r>
            <a:endParaRPr lang="en-US" sz="17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Learned triage models: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over reason-for-visit + vitals outperform vitals-only scoring at comparable precision.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NHAMCS is the standard public ED benchmark for triage research [1].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Limitation: US data — non-transferability to deployment settings is stated explicitly.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Conformal prediction: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Split-conformal prediction gives distribution-free marginal coverage [11], [12].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Marginal ≠ per-split: the guarantee holds in expectation over calibration draws.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control: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(probably-approximately-correct) guarantees bound the share of bad splits via β order statistics [11].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contribution: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PAC rank selection to triage recall control on a calibrated primary model — marginal and PAC rules both reported over 200 seeds.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Outbreak surveillance without labels: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volunteer district archives (e.g. OpenDengue [13]) are rich in time series, poor in ground-truth labels.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practice: alert-budget concentration in verified wave windows (EARS-style) instead of ROC curves.</a:t>
            </a:r>
            <a:endParaRPr lang="en-US" sz="18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Forecasting baselines: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 naive and Holt-Winters are strong competitors on low-variance series — the free-lunch finding is reported, not hidden [7].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Limitation: descriptive enrichment only; retrospective on a static archive.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triage pipelines: LogReg, class-weighted XGB, unweighted XGB, + isotonic, + Platt, constant baseline.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chosen by pre-declared rule: minimum 5-fold OOF Brier among calibrated candidates (ties → isotonic).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rule: argmax precision subject to OOF recall ≥ 0.80 (0.01 grid; ties → higher threshold).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Nested cross-fitting: each outer fold re-selects its threshold on the other four folds only.</a:t>
            </a:r>
            <a:endParaRPr lang="en-US" sz="17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Abstention band: calibrated p ∈ (0.4, 0.6) → human review (4.2% of cases).</a:t>
            </a:r>
            <a:endParaRPr lang="en-US" sz="17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Workflow: real data → calibrated model → cross-fitted threshold → PAC recall control → triage advice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Flowchart of Proposed Method</a:t>
            </a:r>
            <a:endParaRPr lang="en-US" sz="3000" dirty="0"/>
          </a:p>
        </p:txBody>
      </p:sp>
      <p:pic>
        <p:nvPicPr>
          <p:cNvPr id="3" name="Image 0" descr="C:\Users\Vaibhav\projects\hackathon_projects\curago_paper_version\ds\models\paper\paper_fig0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3011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Curago data-science layer: patient-level triage + population-level surveillance (Fig. 1 of the paper). Data: NHAMCS 2019 ED, inCOVID19 district archive, Kaggle pharma sales.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Model &amp; Calibration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Primary: unweighted XGBoost + isotonic calibration — AUC 0.742 [0.728, 0.751].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regression: AUC 0.719 [0.708, 0.731]; paired difference CI [0.012, 0.031] excludes zero.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weighting distorts probabilities: Brier 0.165 vs 0.113 (isotonic).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Calibrated model beats the constant baseline: 0.113 &lt; 0.129.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Probabilities drive a threshold rule — they are not quoted as absolute risks.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Selection &amp; Cross-Fitting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Rule: argmax precision subject to OOF recall ≥ 0.80 (0.01 grid; ties → higher threshold).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Pooled: t = 0.11 → recall 0.800, FPR 0.493, under-triage 0.200.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Nested (headline): outer 5-fold — threshold re-tuned on the other four folds only, then evaluated on its own test fold.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Nested result: t = 0.09–0.10 → recall 0.829, FPR 0.545, under-triage 0.172, abstention 0.042.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test-fold peeking — the conservative operating point we report.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Split-Conformal Guarantee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Protocol: 200 seeds, 60/20/20 stratified splits, α = 0.15 (target recall 0.85).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Marginal rule (rank k = ⌊α(n+1)⌋): mean 0.884 (SD 0.033), 12.5% of splits below target.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rule: largest k with BetaCDF(1−α; n+1−k, k) ≤ δ, δ = 0.10.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result: mean 0.900 (SD 0.030), 3.5% below target (≤ δ), precision 0.191.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bounds the share of below-target splits — still not a per-split guarantee, and we say so.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CDC NHAMCS 2019 ED — 13,595 encounters after screening (US public domain).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COVID-19 India district time-series — 126,712 district-weeks, 840 districts (open archive).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Kaggle pharma sales — 69 monthly points, 8 ATC groups (CC BY-NC 4.0).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5-fold OOF CV, nested cross-fitting, 200-seed conformal study, 12-step forecast holdout.</a:t>
            </a:r>
            <a:endParaRPr lang="en-US" sz="18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CSV carries a Data Source column; licenses and citations in docs/citations.md.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Triage: under-triage 85.9% → 17.2% via cross-fitted thresholds (recall 0.829, FPR 0.545).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Calibration: Brier 0.113 beats constant 0.129; probabilities are threshold inputs, not quoted risks.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Guarantees: marginal 0.884 / 12.5% below target; PAC 0.900 / 3.5% (δ = 10%).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Seed-42 split: recall 0.886 [0.856, 0.914], precision 0.199, FPR 0.643.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Outbreak: 7.0× enrichment (0.250 vs 0.036), 39.8% district coverage — descriptive.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1. Triage model comparison (5-fold OOF, t = 0.50)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34440"/>
                <a:gridCol w="1325880"/>
                <a:gridCol w="1371600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AUC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Brier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0.719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0.609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0.269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0.209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 (class-weighted)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0.732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0.513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0.334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0.165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 + isotonic (primary)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0.742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0.141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0.606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0.113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Constant (train prevalence)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0.500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0.129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chosen by min OOF Brier among calibrated candidates. Data: CDC NHAMCS 2019 ED (n = 13,595).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2. Operating points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1097280"/>
                <a:gridCol w="1234440"/>
                <a:gridCol w="1051560"/>
                <a:gridCol w="13716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Setting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Under-triage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Default, primary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0.141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0.605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0.859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Tuned, pooled OOF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0.226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0.493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Nested cross-fitted (headline)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0.09–0.10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0.829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0.214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0.545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0.172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regression, tuned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0.400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0.811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0.214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0.536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0.189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Conformal, seed-42 split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0.099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0.199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0.643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0.114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nested row is the conservative headline: thresholds selected without test-fold access. Data: CDC NHAMCS 2019 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3. Conformal α sweep — marginal vs PAC (200 splits)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920240"/>
                <a:gridCol w="1554480"/>
                <a:gridCol w="109728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α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recall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SD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Below target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precision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marginal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0.966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0.169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PAC (δ = 0.10)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0.976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0.013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3.0%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0.164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marginal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0.023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0.183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PAC (δ = 0.10)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0.021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3.0%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0.179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marginal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0.196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0.15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PAC (δ = 0.10)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0.191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marginal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0.832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22.0%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0.212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PAC (δ = 0.10)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0.858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0.038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6.0%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0.204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marginal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0.737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0.043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0.243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0.30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PAC (δ = 0.10)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0.768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0.043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0.233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α = 0.15 rows (bold) are the paper’s headline: marginal 12.5% below target vs PAC 3.5% ≤ δ. Data: CDC NHAMCS 2019 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 Curve</a:t>
            </a:r>
            <a:endParaRPr lang="en-US" sz="3000" dirty="0"/>
          </a:p>
        </p:txBody>
      </p:sp>
      <p:pic>
        <p:nvPicPr>
          <p:cNvPr id="3" name="Image 0" descr="C:\Users\Vaibhav\projects\hackathon_projects\curago_paper_version\ds\models\paper\paper_fig1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188720"/>
            <a:ext cx="4754880" cy="43390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5-fold OOF ROC: primary AUC 0.742 [0.728, 0.751] vs LogReg 0.719 (Fig. 2 of the paper).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Conformal Recall Distribution</a:t>
            </a:r>
            <a:endParaRPr lang="en-US" sz="2800" dirty="0"/>
          </a:p>
        </p:txBody>
      </p:sp>
      <p:pic>
        <p:nvPicPr>
          <p:cNvPr id="3" name="Image 0" descr="C:\Users\Vaibhav\projects\hackathon_projects\curago_paper_version\ds\models\paper\paper_fig4_conformal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88720"/>
            <a:ext cx="4937760" cy="4222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recall over 200 splits at α = 0.15: marginal vs PAC rule (Fig. 5 of the paper).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public data, no synthetic records — full pipeline fail-closed and seed-42 reproducible.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Calibrated primary + nested cross-fitting: recall 0.829 at under-triage 0.172 (FPR 0.545).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 conformal control: below-target share 3.5% ≤ δ = 10% (marginal 12.5%).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Outbreak module: descriptive 7.0× enrichment only — stated as such.</a:t>
            </a:r>
            <a:endParaRPr lang="en-US" sz="18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Work: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validation under covariate shift; outcome-linked labels (T4); surveillance baselines (T5); prospective live evaluation.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0690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National Center for Health Statistics, "National hospital ambulatory medical care survey: 2019 emergency department summary," Centers for Disease Control and Prevention (CDC), 2019, data documentation: https://ftp.cdc.gov/pub/Health_Statistics/NCHS/Dataset_Documentation/NHAMCS/doc19-ed-508.pdf. [Online]. Available: https://www.cdc.gov/nchs/nhamcs/documentation/about-the-data-2019.html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covid19india.com Data Operations Group and incovid19 Team, "Covid-19 india national and district-level time-series archive," Static data archive hosted at https://data.incovid19.org/, 2023, retrieved 2026-10-07. Retrospective observed series from 2020-04-26 to 2023-08-22 across 840 state-qualified districts.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M. Zdravković, "Pharma sales data: Point-of-sale transactional dataset resampled to monthly aggregates," Kaggle, 2019, license: Creative Commons Attribution-NonCommercial 4.0 International (CC BY-NC 4.0). [Online]. Available: https://www.kaggle.com/datasets/milanzdravkovic/pharma-sales-data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Royal College of Physicians, *National Early Warning Score (NEWS) 2: Standardising the Assessment of Acute-Illness Severity in the NHS*. London, UK: Royal College of Physicians, 2017, report of a working party.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G. B. Smith, D. R. Prytherch, P. Meredith, P. E. Schmidt, and P. I. Featherstone, "The ability of the National Early Warning Score (NEWS) to discriminate patients at risk of early death in acute medical admissions," *Resuscitation*, vol. 84, no. 4, pp. 465–470, 2013.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T. Chen and C. Guestrin, "XGBoost: A scalable tree boosting system," in *Proceedings of the 22nd ACM SIGKDD International Conference on Knowledge Discovery and Data Mining (KDD '16)*, 2016, pp. 785–794.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G. Ke, Q. Meng, T. Finley, T. Wang, W. Chen, W. Ma, Q. Ye, and T.-Y. Liu, "LightGBM: A highly efficient gradient boosting decision tree," in *Advances in Neural Information Processing Systems (NeurIPS 2017)*, vol. 30, 2017, pp. 3146–3154.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63440" y="1143000"/>
            <a:ext cx="40690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F. Pedregosa, G. Varoquaux, A. Gramfort, V. Michel, B. Thirion, O. Grisel, M. Blondel, P. Prettenhofer, R. Weiss, V. Dubourg, J. Vanderplas, A. Passos, D. Cournapeau, M. Brucher, M. Perrot, and É. Duchesnay, "Scikit-learn: Machine learning in Python," *Journal of Machine Learning Research (JMLR)*, vol. 12, pp. 2825–2830, 2011.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V. Vovk, A. Gammerman, and G. Shafer, *Algorithmic Learning in a Random World*. New York, NY, USA: Springer Science &amp; Business Media, 2005.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A. N. Angelopoulos and S. Bates, "A gentle introduction to conformal prediction and distribution-free uncertainty quantification," *arXiv preprint arXiv:2107.07511*, 2021.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S. M. Lundberg and S.-I. Lee, "A unified approach to interpreting model predictions," in *Advances in Neural Information Processing Systems (NeurIPS 2017)*, vol. 30, 2017, pp. 4765–4774.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J. Clarke, M. U. G. Kraemer, and et al., "OpenDengue: Data platform for global dengue surveillance," *Scientific Data*, vol. 11, no. 1, p. 324, 2024.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S. Seabold and J. Perktold, "Statsmodels: Econometric and statistical modeling with Python," in *Proceedings of the 9th Python in Science Conference (SciPy 2010)*, 2010, pp. 92–96.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Paper: Real-Data Machine Learning for Telemedicine Triage and Outbreak Surveillance · github.com/vaibhav7087/curago_paper_version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Real-Data Machine Learning for Telemedicine Triage and Outbreak Surveillance</dc:title>
  <dc:subject>Nexathon II paper presentation (IEEE format)</dc:subject>
  <dc:creator>Vaibhav Kadam, Tanvi Gandhi, Omkar Shinolikar</dc:creator>
  <cp:lastModifiedBy>Vaibhav Kadam, Tanvi Gandhi, Omkar Shinolikar</cp:lastModifiedBy>
  <cp:revision>1</cp:revision>
  <dcterms:created xsi:type="dcterms:W3CDTF">2026-10-08T10:37:12Z</dcterms:created>
  <dcterms:modified xsi:type="dcterms:W3CDTF">2026-10-08T10:37:12Z</dcterms:modified>
</cp:coreProperties>
</file>