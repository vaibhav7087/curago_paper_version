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7" r:id="rId5"/>
    <p:sldId id="269" r:id="rId6"/>
    <p:sldId id="268" r:id="rId7"/>
    <p:sldId id="270" r:id="rId8"/>
    <p:sldId id="271" r:id="rId9"/>
    <p:sldId id="272" r:id="rId10"/>
    <p:sldId id="273" r:id="rId11"/>
    <p:sldId id="274" r:id="rId12"/>
    <p:sldId id="275" r:id="rId13"/>
    <p:sldId id="276" r:id="rId14"/>
    <p:sldId id="277" r:id="rId15"/>
    <p:sldId id="278" r:id="rId16"/>
    <p:sldId id="279" r:id="rId17"/>
    <p:sldId id="280" r:id="rId18"/>
    <p:sldId id="286" r:id="rId19"/>
    <p:sldId id="287" r:id="rId20"/>
    <p:sldId id="281" r:id="rId21"/>
    <p:sldId id="282" r:id="rId22"/>
    <p:sldId id="283" r:id="rId23"/>
    <p:sldId id="285" r:id="rId24"/>
    <p:sldId id="265"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89" d="100"/>
          <a:sy n="89" d="100"/>
        </p:scale>
        <p:origin x="-1258" y="202"/>
      </p:cViewPr>
      <p:guideLst>
        <p:guide orient="horz" pos="212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dirty="0"/>
              <a:t>International Conference on Future Advances in Computing &amp; Technology</a:t>
            </a:r>
            <a:endParaRPr dirty="0"/>
          </a:p>
          <a:p>
            <a:r>
              <a:rPr dirty="0"/>
              <a:t>Author Presentation Template</a:t>
            </a:r>
            <a:endParaRPr dirty="0"/>
          </a:p>
        </p:txBody>
      </p:sp>
      <p:pic>
        <p:nvPicPr>
          <p:cNvPr id="7" name="Picture 6" descr="492d1a0c-dd85-4d7e-be6c-523d02fb72f8.png"/>
          <p:cNvPicPr>
            <a:picLocks noChangeAspect="1"/>
          </p:cNvPicPr>
          <p:nvPr/>
        </p:nvPicPr>
        <p:blipFill>
          <a:blip r:embed="rId1"/>
          <a:stretch>
            <a:fillRect/>
          </a:stretch>
        </p:blipFill>
        <p:spPr>
          <a:xfrm>
            <a:off x="4815556" y="207644"/>
            <a:ext cx="4186785" cy="731520"/>
          </a:xfrm>
          <a:prstGeom prst="rect">
            <a:avLst/>
          </a:prstGeom>
        </p:spPr>
      </p:pic>
      <p:pic>
        <p:nvPicPr>
          <p:cNvPr id="1031" name="Picture 7" descr="File:Ieee blue.jpg - Wikimedia Comm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519"/>
            <a:ext cx="2085174" cy="741974"/>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ctrTitle"/>
          </p:nvPr>
        </p:nvSpPr>
        <p:spPr/>
        <p:txBody>
          <a:bodyPr>
            <a:normAutofit fontScale="90000"/>
          </a:bodyPr>
          <a:lstStyle/>
          <a:p>
            <a:r>
              <a:rPr sz="4000" b="1" i="1">
                <a:latin typeface="Times New Roman Bold Italic" panose="02020503050405090304" charset="0"/>
                <a:cs typeface="Times New Roman Bold Italic" panose="02020503050405090304" charset="0"/>
                <a:sym typeface="+mn-ea"/>
              </a:rPr>
              <a:t>A Feature Selection Method Using Enhanced Pigeon Inspired Optimization with Mutation Operator for Intrusion Detection System</a:t>
            </a:r>
            <a:endParaRPr lang="en-IN" sz="4000" dirty="0"/>
          </a:p>
        </p:txBody>
      </p:sp>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822" y="-12975"/>
            <a:ext cx="2052327" cy="1172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Presentation Outline</a:t>
            </a:r>
          </a:p>
        </p:txBody>
      </p:sp>
      <p:sp>
        <p:nvSpPr>
          <p:cNvPr id="3" name="Content Placeholder 2"/>
          <p:cNvSpPr>
            <a:spLocks noGrp="1"/>
          </p:cNvSpPr>
          <p:nvPr>
            <p:ph idx="1"/>
          </p:nvPr>
        </p:nvSpPr>
        <p:spPr/>
        <p:txBody>
          <a:bodyPr/>
          <a:lstStyle/>
          <a:p>
            <a:r>
              <a:t>• Introduction</a:t>
            </a:r>
          </a:p>
          <a:p>
            <a:r>
              <a:t>• Problem Statement</a:t>
            </a:r>
          </a:p>
          <a:p>
            <a:r>
              <a:t>• Methodology</a:t>
            </a:r>
          </a:p>
          <a:p>
            <a:r>
              <a:t>• Results</a:t>
            </a:r>
          </a:p>
          <a:p>
            <a:r>
              <a:t>• Conclusion</a:t>
            </a:r>
          </a:p>
          <a:p>
            <a:r>
              <a:t>• Future Work</a:t>
            </a:r>
          </a:p>
          <a:p>
            <a:r>
              <a:t>•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Abstract</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fontScale="80000"/>
          </a:bodyPr>
          <a:lstStyle/>
          <a:p>
            <a:r>
              <a:rPr>
                <a:latin typeface="Times New Roman Regular" panose="02020503050405090304" charset="0"/>
                <a:cs typeface="Times New Roman Regular" panose="02020503050405090304" charset="0"/>
              </a:rPr>
              <a:t>This work proposes an enhanced feature selection technique combining Pigeon Inspired Optimization (PIO) with a Genetic Algorithm mutation operator.</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Improves global search ability</a:t>
            </a:r>
            <a:r>
              <a:rPr lang="en-US">
                <a:latin typeface="Times New Roman Regular" panose="02020503050405090304" charset="0"/>
                <a:cs typeface="Times New Roman Regular" panose="02020503050405090304" charset="0"/>
              </a:rPr>
              <a:t>, </a:t>
            </a:r>
            <a:endParaRPr lang="en-US">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Avoids local optima problem</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Uses SVM classifier</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Evaluated on ADFA-LD, CICIDS2017, MQTT datasets</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Results show improved detection accuracy and reduced false positive rate.</a:t>
            </a:r>
            <a:endParaRPr>
              <a:latin typeface="Times New Roman Regular" panose="02020503050405090304" charset="0"/>
              <a:cs typeface="Times New Roman Regular"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Need for Feature Selection</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Feature selection plays a critical role in IDS performance.</a:t>
            </a:r>
            <a:endParaRPr sz="2600">
              <a:latin typeface="Times New Roman Regular" panose="02020503050405090304" charset="0"/>
              <a:cs typeface="Times New Roman Regular" panose="02020503050405090304" charset="0"/>
            </a:endParaRPr>
          </a:p>
          <a:p>
            <a:pPr marL="0" indent="0">
              <a:buNone/>
            </a:pPr>
            <a:r>
              <a:rPr sz="2600">
                <a:latin typeface="Times New Roman Regular" panose="02020503050405090304" charset="0"/>
                <a:cs typeface="Times New Roman Regular" panose="02020503050405090304" charset="0"/>
              </a:rPr>
              <a:t>• </a:t>
            </a:r>
            <a:r>
              <a:rPr lang="en-US" sz="2600">
                <a:latin typeface="Times New Roman Regular" panose="02020503050405090304" charset="0"/>
                <a:cs typeface="Times New Roman Regular" panose="02020503050405090304" charset="0"/>
              </a:rPr>
              <a:t>  </a:t>
            </a:r>
            <a:r>
              <a:rPr sz="2600">
                <a:latin typeface="Times New Roman Regular" panose="02020503050405090304" charset="0"/>
                <a:cs typeface="Times New Roman Regular" panose="02020503050405090304" charset="0"/>
              </a:rPr>
              <a:t>Removes irrelevant and redundant features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Reduces computational complexity</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Improves training speed</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Enhances classification accuracy</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However, selecting optimal features is an NP-hard problem.</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Introduction</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Intrusion Detection Systems (IDS) are essential for modern network security.</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Detect malicious activities in real-time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Protect cloud, IoT, and wireless networks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IDS types: Misuse-based and Anomaly-based</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Challenge: Large datasets contain noise and redundant features affecting performance.</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Problem Statement</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lstStyle/>
          <a:p>
            <a:r>
              <a:rPr sz="2600">
                <a:latin typeface="Times New Roman Regular" panose="02020503050405090304" charset="0"/>
                <a:cs typeface="Times New Roman Regular" panose="02020503050405090304" charset="0"/>
              </a:rPr>
              <a:t>Existing feature selection algorithms face major limitations: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Get trapped in local optima</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High computational cost</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Poor performance on complex datasets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Objective:</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Develop a hybrid optimization technique to achieve global optimal feature selection.</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Literature Survey 1</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Genetic Algorithm + SVM:</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Improves classification accuracy</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Works well for structured datasets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Limitation:</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High detection time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Increased computational cost</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Literature Survey 2</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lstStyle/>
          <a:p>
            <a:r>
              <a:rPr sz="2600">
                <a:latin typeface="Times New Roman Regular" panose="02020503050405090304" charset="0"/>
                <a:cs typeface="Times New Roman Regular" panose="02020503050405090304" charset="0"/>
              </a:rPr>
              <a:t>Mutual Information + LSSVM:</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Selects highly relevant features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Reduces false positives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Limitation:</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Depends on ranking quality</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May miss global optimal subset</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Literature Survey 3</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lstStyle/>
          <a:p>
            <a:r>
              <a:rPr sz="2600">
                <a:latin typeface="Times New Roman Regular" panose="02020503050405090304" charset="0"/>
                <a:cs typeface="Times New Roman Regular" panose="02020503050405090304" charset="0"/>
              </a:rPr>
              <a:t>ABC + Adaboost / Hybrid Methods: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High accuracy (~98%)</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Low false positive rate</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Limitation:</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Complex model design</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Increased computational overhead</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Proposed Methodology</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Proposed Hybrid Model:</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Binary Pigeon Inspired Optimization (PIO)</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Genetic Algorithm Mutation Operator</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Support Vector Machine (SVM)</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Workflow:</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Dataset → Feature Selection → Classification → Output</a:t>
            </a:r>
            <a:endParaRPr sz="2600">
              <a:latin typeface="Times New Roman Regular" panose="02020503050405090304" charset="0"/>
              <a:cs typeface="Times New Roman Regular" panose="02020503050405090304" charset="0"/>
            </a:endParaRPr>
          </a:p>
          <a:p>
            <a:endParaRPr sz="2600">
              <a:latin typeface="Times New Roman Regular" panose="02020503050405090304" charset="0"/>
              <a:cs typeface="Times New Roman Regular" panose="02020503050405090304" charset="0"/>
            </a:endParaRPr>
          </a:p>
        </p:txBody>
      </p:sp>
      <p:pic>
        <p:nvPicPr>
          <p:cNvPr id="4" name="Picture 3" descr="architecture.png"/>
          <p:cNvPicPr>
            <a:picLocks noChangeAspect="1"/>
          </p:cNvPicPr>
          <p:nvPr/>
        </p:nvPicPr>
        <p:blipFill>
          <a:blip r:embed="rId1"/>
          <a:srcRect t="35694" b="35139"/>
          <a:stretch>
            <a:fillRect/>
          </a:stretch>
        </p:blipFill>
        <p:spPr>
          <a:xfrm>
            <a:off x="783590" y="4441190"/>
            <a:ext cx="7118350" cy="1844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PIO Algorithm</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Pigeon Inspired Optimization mimics bird navigation:</a:t>
            </a:r>
            <a:endParaRPr sz="2600">
              <a:latin typeface="Times New Roman Regular" panose="02020503050405090304" charset="0"/>
              <a:cs typeface="Times New Roman Regular" panose="02020503050405090304" charset="0"/>
            </a:endParaRPr>
          </a:p>
          <a:p>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Map &amp; Compass operator (global search)</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Landmark operator (local refinement)</a:t>
            </a:r>
            <a:endParaRPr sz="2600">
              <a:latin typeface="Times New Roman Regular" panose="02020503050405090304" charset="0"/>
              <a:cs typeface="Times New Roman Regular" panose="02020503050405090304" charset="0"/>
            </a:endParaRPr>
          </a:p>
          <a:p>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Advantages:</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Fast convergence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Efficient global search</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Mutation Operator</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lstStyle/>
          <a:p>
            <a:r>
              <a:rPr sz="2600">
                <a:latin typeface="Times New Roman Regular" panose="02020503050405090304" charset="0"/>
                <a:cs typeface="Times New Roman Regular" panose="02020503050405090304" charset="0"/>
              </a:rPr>
              <a:t>Mutation enhances diversity in search:</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Flips binary values (0 ↔ 1)</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Applied to low MI features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Benefits:</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Avoids premature convergence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Improves exploration capability</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SVM Classifier</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lnSpcReduction="10000"/>
          </a:bodyPr>
          <a:lstStyle/>
          <a:p>
            <a:r>
              <a:rPr>
                <a:latin typeface="Times New Roman Regular" panose="02020503050405090304" charset="0"/>
                <a:cs typeface="Times New Roman Regular" panose="02020503050405090304" charset="0"/>
              </a:rPr>
              <a:t>Support Vector Machine:</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Separates data using hyperplane</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Uses RBF kernel for nonlinear classification</a:t>
            </a:r>
            <a:endParaRPr>
              <a:latin typeface="Times New Roman Regular" panose="02020503050405090304" charset="0"/>
              <a:cs typeface="Times New Roman Regular" panose="02020503050405090304" charset="0"/>
            </a:endParaRPr>
          </a:p>
          <a:p>
            <a:r>
              <a:rPr b="1" i="1">
                <a:latin typeface="Times New Roman Bold Italic" panose="02020503050405090304" charset="0"/>
                <a:cs typeface="Times New Roman Bold Italic" panose="02020503050405090304" charset="0"/>
              </a:rPr>
              <a:t>Advantages:</a:t>
            </a:r>
            <a:endParaRPr b="1" i="1">
              <a:latin typeface="Times New Roman Bold Italic" panose="02020503050405090304" charset="0"/>
              <a:cs typeface="Times New Roman Bold Italic" panose="02020503050405090304" charset="0"/>
            </a:endParaRPr>
          </a:p>
          <a:p>
            <a:r>
              <a:rPr>
                <a:latin typeface="Times New Roman Regular" panose="02020503050405090304" charset="0"/>
                <a:cs typeface="Times New Roman Regular" panose="02020503050405090304" charset="0"/>
              </a:rPr>
              <a:t>High accuracy</a:t>
            </a:r>
            <a:endParaRPr>
              <a:latin typeface="Times New Roman Regular" panose="02020503050405090304" charset="0"/>
              <a:cs typeface="Times New Roman Regular" panose="02020503050405090304" charset="0"/>
            </a:endParaRPr>
          </a:p>
          <a:p>
            <a:r>
              <a:rPr>
                <a:latin typeface="Times New Roman Regular" panose="02020503050405090304" charset="0"/>
                <a:cs typeface="Times New Roman Regular" panose="02020503050405090304" charset="0"/>
              </a:rPr>
              <a:t>Effective in high-dimensional data</a:t>
            </a:r>
            <a:endParaRPr>
              <a:latin typeface="Times New Roman Regular" panose="02020503050405090304" charset="0"/>
              <a:cs typeface="Times New Roman Regular" panose="0202050305040509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a:latin typeface="Times New Roman Regular" panose="02020503050405090304" charset="0"/>
                <a:cs typeface="Times New Roman Regular" panose="02020503050405090304" charset="0"/>
                <a:sym typeface="+mn-ea"/>
              </a:rPr>
              <a:t>Flowchart of Proposed Method</a:t>
            </a:r>
            <a:endParaRPr lang="en-US">
              <a:latin typeface="Times New Roman Regular" panose="02020503050405090304" charset="0"/>
              <a:cs typeface="Times New Roman Regular" panose="02020503050405090304" charset="0"/>
            </a:endParaRPr>
          </a:p>
        </p:txBody>
      </p:sp>
      <p:pic>
        <p:nvPicPr>
          <p:cNvPr id="4" name="Content Placeholder 3" descr="flowchart.png"/>
          <p:cNvPicPr>
            <a:picLocks noChangeAspect="1"/>
          </p:cNvPicPr>
          <p:nvPr>
            <p:ph idx="1"/>
          </p:nvPr>
        </p:nvPicPr>
        <p:blipFill>
          <a:blip r:embed="rId1"/>
          <a:srcRect l="30384" t="2862" r="30156" b="10550"/>
          <a:stretch>
            <a:fillRect/>
          </a:stretch>
        </p:blipFill>
        <p:spPr>
          <a:xfrm>
            <a:off x="1877695" y="1729740"/>
            <a:ext cx="5681345" cy="46869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Datasets Used</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Datasets for evaluation:</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ADFA-LD – real-world attack data</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CICIDS2017 – modern network traffic</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MQTT – IoT-based attacks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Evaluation Metrics:</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Accuracy, Precision, Recall, F1-score, FPR</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Regular" panose="02020503050405090304" charset="0"/>
                <a:cs typeface="Times New Roman Regular" panose="02020503050405090304" charset="0"/>
              </a:rPr>
              <a:t>Results &amp; Discussion</a:t>
            </a:r>
            <a:endParaRPr>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a:bodyPr>
          <a:lstStyle/>
          <a:p>
            <a:r>
              <a:rPr sz="2600">
                <a:latin typeface="Times New Roman Regular" panose="02020503050405090304" charset="0"/>
                <a:cs typeface="Times New Roman Regular" panose="02020503050405090304" charset="0"/>
              </a:rPr>
              <a:t>Performance Highlights:</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 Higher accuracy compared to MI, GA, WOA, PIO</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 Significant reduction in False Positive Rate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 Strong performance on CICIDS2017</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Limitation:</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Lower detection in minority classes due to imbalance</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296545"/>
            <a:ext cx="8229600" cy="4525963"/>
          </a:xfrm>
        </p:spPr>
        <p:txBody>
          <a:bodyPr/>
          <a:p>
            <a:pPr marL="0" indent="0">
              <a:buNone/>
            </a:pPr>
            <a:r>
              <a:rPr lang="en-US" altLang="en-US" sz="2400">
                <a:latin typeface="Times New Roman Regular" panose="02020503050405090304" charset="0"/>
                <a:cs typeface="Times New Roman Regular" panose="02020503050405090304" charset="0"/>
              </a:rPr>
              <a:t>Table 1. Analysis of proposed method using CICIDS2017 dataset</a:t>
            </a:r>
            <a:endParaRPr lang="en-US" altLang="en-US" sz="2400">
              <a:latin typeface="Times New Roman Regular" panose="02020503050405090304" charset="0"/>
              <a:cs typeface="Times New Roman Regular" panose="02020503050405090304" charset="0"/>
            </a:endParaRPr>
          </a:p>
          <a:p>
            <a:pPr marL="0" indent="0">
              <a:buNone/>
            </a:pPr>
            <a:endParaRPr lang="en-US" altLang="en-US" sz="2400">
              <a:latin typeface="Times New Roman Regular" panose="02020503050405090304" charset="0"/>
              <a:cs typeface="Times New Roman Regular" panose="02020503050405090304" charset="0"/>
            </a:endParaRPr>
          </a:p>
          <a:p>
            <a:pPr marL="0" indent="0">
              <a:buNone/>
            </a:pPr>
            <a:endParaRPr lang="en-US" altLang="en-US" sz="2400">
              <a:latin typeface="Times New Roman Regular" panose="02020503050405090304" charset="0"/>
              <a:cs typeface="Times New Roman Regular" panose="02020503050405090304" charset="0"/>
            </a:endParaRPr>
          </a:p>
          <a:p>
            <a:pPr marL="0" indent="0">
              <a:buNone/>
            </a:pPr>
            <a:endParaRPr lang="en-US" altLang="en-US" sz="2400">
              <a:latin typeface="Times New Roman Regular" panose="02020503050405090304" charset="0"/>
              <a:cs typeface="Times New Roman Regular" panose="02020503050405090304" charset="0"/>
            </a:endParaRPr>
          </a:p>
          <a:p>
            <a:pPr marL="0" indent="0">
              <a:buNone/>
            </a:pPr>
            <a:endParaRPr lang="en-US" altLang="en-US" sz="2400">
              <a:latin typeface="Times New Roman Regular" panose="02020503050405090304" charset="0"/>
              <a:cs typeface="Times New Roman Regular" panose="02020503050405090304" charset="0"/>
            </a:endParaRPr>
          </a:p>
          <a:p>
            <a:pPr marL="0" indent="0">
              <a:buNone/>
            </a:pPr>
            <a:endParaRPr lang="en-US" altLang="en-US" sz="2000">
              <a:latin typeface="Times New Roman Regular" panose="02020503050405090304" charset="0"/>
              <a:cs typeface="Times New Roman Regular" panose="02020503050405090304" charset="0"/>
            </a:endParaRPr>
          </a:p>
          <a:p>
            <a:pPr marL="0" indent="0">
              <a:buNone/>
            </a:pPr>
            <a:endParaRPr lang="en-US" altLang="en-US" sz="2000">
              <a:latin typeface="Times New Roman Regular" panose="02020503050405090304" charset="0"/>
              <a:cs typeface="Times New Roman Regular" panose="02020503050405090304" charset="0"/>
            </a:endParaRPr>
          </a:p>
          <a:p>
            <a:pPr marL="0" indent="0">
              <a:buNone/>
            </a:pPr>
            <a:endParaRPr lang="en-US" altLang="en-US" sz="2000">
              <a:latin typeface="Times New Roman Regular" panose="02020503050405090304" charset="0"/>
              <a:cs typeface="Times New Roman Regular" panose="02020503050405090304" charset="0"/>
            </a:endParaRPr>
          </a:p>
          <a:p>
            <a:pPr marL="0" indent="0">
              <a:buNone/>
            </a:pPr>
            <a:endParaRPr lang="en-US" altLang="en-US" sz="2000">
              <a:latin typeface="Times New Roman Regular" panose="02020503050405090304" charset="0"/>
              <a:cs typeface="Times New Roman Regular" panose="02020503050405090304" charset="0"/>
            </a:endParaRPr>
          </a:p>
          <a:p>
            <a:pPr marL="0" indent="0">
              <a:buNone/>
            </a:pPr>
            <a:endParaRPr lang="en-US" altLang="en-US" sz="2000">
              <a:latin typeface="Times New Roman Regular" panose="02020503050405090304" charset="0"/>
              <a:cs typeface="Times New Roman Regular" panose="02020503050405090304" charset="0"/>
            </a:endParaRPr>
          </a:p>
        </p:txBody>
      </p:sp>
      <p:graphicFrame>
        <p:nvGraphicFramePr>
          <p:cNvPr id="4" name="Table 3"/>
          <p:cNvGraphicFramePr/>
          <p:nvPr/>
        </p:nvGraphicFramePr>
        <p:xfrm>
          <a:off x="1682115" y="850265"/>
          <a:ext cx="5779135" cy="1813560"/>
        </p:xfrm>
        <a:graphic>
          <a:graphicData uri="http://schemas.openxmlformats.org/drawingml/2006/table">
            <a:tbl>
              <a:tblPr/>
              <a:tblGrid>
                <a:gridCol w="904240"/>
                <a:gridCol w="521970"/>
                <a:gridCol w="805815"/>
                <a:gridCol w="859155"/>
                <a:gridCol w="859155"/>
                <a:gridCol w="790575"/>
                <a:gridCol w="1038225"/>
              </a:tblGrid>
              <a:tr h="604520">
                <a:tc>
                  <a:txBody>
                    <a:bodyPr/>
                    <a:p>
                      <a:pPr marL="0" indent="0" algn="just">
                        <a:spcBef>
                          <a:spcPct val="0"/>
                        </a:spcBef>
                        <a:spcAft>
                          <a:spcPct val="0"/>
                        </a:spcAft>
                      </a:pPr>
                      <a:r>
                        <a:rPr sz="1600" b="1">
                          <a:latin typeface="Times New Roman" panose="02020503050405090304"/>
                          <a:ea typeface="SimSun"/>
                        </a:rPr>
                        <a:t>Class</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Test data size</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Accuracy</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Sensitivity</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Specificity </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Precision</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latin typeface="Times New Roman" panose="02020503050405090304"/>
                          <a:ea typeface="SimSun"/>
                        </a:rPr>
                        <a:t>F1-score</a:t>
                      </a:r>
                      <a:endParaRPr sz="16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1930">
                <a:tc>
                  <a:txBody>
                    <a:bodyPr/>
                    <a:p>
                      <a:pPr marL="0" indent="0" algn="just">
                        <a:spcBef>
                          <a:spcPct val="0"/>
                        </a:spcBef>
                        <a:spcAft>
                          <a:spcPct val="0"/>
                        </a:spcAft>
                      </a:pPr>
                      <a:r>
                        <a:rPr sz="1600">
                          <a:latin typeface="Times New Roman" panose="02020503050405090304"/>
                          <a:ea typeface="SimSun"/>
                        </a:rPr>
                        <a:t>Benign</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1328</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0.982616</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0.973645</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0.988383</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0.981777</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0.977694</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0660">
                <a:tc>
                  <a:txBody>
                    <a:bodyPr/>
                    <a:p>
                      <a:pPr marL="0" indent="0" algn="just">
                        <a:spcBef>
                          <a:spcPct val="0"/>
                        </a:spcBef>
                        <a:spcAft>
                          <a:spcPct val="0"/>
                        </a:spcAft>
                      </a:pPr>
                      <a:r>
                        <a:rPr sz="1600">
                          <a:latin typeface="Times New Roman" panose="02020503050405090304"/>
                          <a:ea typeface="SimSun"/>
                        </a:rPr>
                        <a:t>DOS</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1600</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0.997387</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0.994375</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0.99718</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1930">
                <a:tc>
                  <a:txBody>
                    <a:bodyPr/>
                    <a:p>
                      <a:pPr marL="0" indent="0" algn="just">
                        <a:spcBef>
                          <a:spcPct val="0"/>
                        </a:spcBef>
                        <a:spcAft>
                          <a:spcPct val="0"/>
                        </a:spcAft>
                      </a:pPr>
                      <a:r>
                        <a:rPr sz="1600">
                          <a:latin typeface="Times New Roman" panose="02020503050405090304"/>
                          <a:ea typeface="SimSun"/>
                        </a:rPr>
                        <a:t>Portscan</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22</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0.999127</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0.999122</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0.88</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0.93617</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1930">
                <a:tc>
                  <a:txBody>
                    <a:bodyPr/>
                    <a:p>
                      <a:pPr marL="0" indent="0" algn="just">
                        <a:spcBef>
                          <a:spcPct val="0"/>
                        </a:spcBef>
                        <a:spcAft>
                          <a:spcPct val="0"/>
                        </a:spcAft>
                      </a:pPr>
                      <a:r>
                        <a:rPr sz="1600">
                          <a:latin typeface="Times New Roman" panose="02020503050405090304"/>
                          <a:ea typeface="SimSun"/>
                        </a:rPr>
                        <a:t>Web attack</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13</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0660">
                <a:tc>
                  <a:txBody>
                    <a:bodyPr/>
                    <a:p>
                      <a:pPr marL="0" indent="0" algn="just">
                        <a:spcBef>
                          <a:spcPct val="0"/>
                        </a:spcBef>
                        <a:spcAft>
                          <a:spcPct val="0"/>
                        </a:spcAft>
                      </a:pPr>
                      <a:r>
                        <a:rPr sz="1600">
                          <a:latin typeface="Times New Roman" panose="02020503050405090304"/>
                          <a:ea typeface="SimSun"/>
                        </a:rPr>
                        <a:t>Ftp_parator</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160</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0.991915</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0.9625</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0.993339</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0.875</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0.916667</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1930">
                <a:tc>
                  <a:txBody>
                    <a:bodyPr/>
                    <a:p>
                      <a:pPr marL="0" indent="0" algn="just">
                        <a:spcBef>
                          <a:spcPct val="0"/>
                        </a:spcBef>
                        <a:spcAft>
                          <a:spcPct val="0"/>
                        </a:spcAft>
                      </a:pPr>
                      <a:r>
                        <a:rPr sz="1600">
                          <a:latin typeface="Times New Roman" panose="02020503050405090304"/>
                          <a:ea typeface="SimSun"/>
                        </a:rPr>
                        <a:t>Ssh_parator</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377</a:t>
                      </a:r>
                      <a:endParaRPr sz="16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0.991056</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0.960212</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0.99482</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0.957672</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latin typeface="Times New Roman" panose="02020503050405090304"/>
                          <a:ea typeface="SimSun"/>
                        </a:rPr>
                        <a:t>0.95894</a:t>
                      </a:r>
                      <a:endParaRPr sz="1600">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sz="2000">
                <a:latin typeface="Times New Roman Regular" panose="02020503050405090304" charset="0"/>
                <a:cs typeface="Times New Roman Regular" panose="02020503050405090304" charset="0"/>
                <a:sym typeface="+mn-ea"/>
              </a:rPr>
              <a:t>Table 2. Validation of proposed method with other feature selection methods on the basis of FPR using various intrusion datasets</a:t>
            </a:r>
            <a:endParaRPr lang="en-US" sz="2000"/>
          </a:p>
        </p:txBody>
      </p:sp>
      <p:graphicFrame>
        <p:nvGraphicFramePr>
          <p:cNvPr id="5" name="Content Placeholder 4"/>
          <p:cNvGraphicFramePr/>
          <p:nvPr>
            <p:ph idx="1"/>
          </p:nvPr>
        </p:nvGraphicFramePr>
        <p:xfrm>
          <a:off x="457200" y="1600200"/>
          <a:ext cx="8229600" cy="1463040"/>
        </p:xfrm>
        <a:graphic>
          <a:graphicData uri="http://schemas.openxmlformats.org/drawingml/2006/table">
            <a:tbl>
              <a:tblPr/>
              <a:tblGrid>
                <a:gridCol w="1371600"/>
                <a:gridCol w="1371600"/>
                <a:gridCol w="1371600"/>
                <a:gridCol w="1371600"/>
                <a:gridCol w="1371600"/>
                <a:gridCol w="1371600"/>
              </a:tblGrid>
              <a:tr h="0">
                <a:tc>
                  <a:txBody>
                    <a:bodyPr/>
                    <a:p>
                      <a:pPr marL="0" indent="0" algn="just">
                        <a:spcBef>
                          <a:spcPct val="0"/>
                        </a:spcBef>
                        <a:spcAft>
                          <a:spcPct val="0"/>
                        </a:spcAft>
                      </a:pPr>
                      <a:r>
                        <a:rPr sz="1600" b="1">
                          <a:solidFill>
                            <a:srgbClr val="000000"/>
                          </a:solidFill>
                          <a:latin typeface="Times New Roman" panose="02020503050405090304"/>
                          <a:ea typeface="SimSun"/>
                        </a:rPr>
                        <a:t>Dataset</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solidFill>
                            <a:srgbClr val="000000"/>
                          </a:solidFill>
                          <a:latin typeface="Times New Roman" panose="02020503050405090304"/>
                          <a:ea typeface="SimSun"/>
                        </a:rPr>
                        <a:t>Mutual Information</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solidFill>
                            <a:srgbClr val="000000"/>
                          </a:solidFill>
                          <a:latin typeface="Times New Roman" panose="02020503050405090304"/>
                          <a:ea typeface="SimSun"/>
                        </a:rPr>
                        <a:t>Genetic algorithm</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solidFill>
                            <a:srgbClr val="000000"/>
                          </a:solidFill>
                          <a:latin typeface="Times New Roman" panose="02020503050405090304"/>
                          <a:ea typeface="SimSun"/>
                        </a:rPr>
                        <a:t>Whale Optimization algorithm</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solidFill>
                            <a:srgbClr val="000000"/>
                          </a:solidFill>
                          <a:latin typeface="Times New Roman" panose="02020503050405090304"/>
                          <a:ea typeface="SimSun"/>
                        </a:rPr>
                        <a:t>Traditional PIO</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b="1">
                          <a:solidFill>
                            <a:srgbClr val="000000"/>
                          </a:solidFill>
                          <a:latin typeface="Times New Roman" panose="02020503050405090304"/>
                          <a:ea typeface="SimSun"/>
                        </a:rPr>
                        <a:t>Proposed method</a:t>
                      </a:r>
                      <a:endParaRPr sz="1600" b="1">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600">
                          <a:solidFill>
                            <a:srgbClr val="000000"/>
                          </a:solidFill>
                          <a:latin typeface="Times New Roman" panose="02020503050405090304"/>
                          <a:ea typeface="SimSun"/>
                        </a:rPr>
                        <a:t>ADFA-LD</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0.133</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0.0675</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0.043</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0.013</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0.004</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600">
                          <a:solidFill>
                            <a:srgbClr val="000000"/>
                          </a:solidFill>
                          <a:latin typeface="Times New Roman" panose="02020503050405090304"/>
                          <a:ea typeface="SimSun"/>
                        </a:rPr>
                        <a:t>CICIDS2017</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0.0041</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0.009</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0.003</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0.002</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0.002</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600">
                          <a:solidFill>
                            <a:srgbClr val="000000"/>
                          </a:solidFill>
                          <a:latin typeface="Times New Roman" panose="02020503050405090304"/>
                          <a:ea typeface="SimSun"/>
                        </a:rPr>
                        <a:t>MQTT</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0.0021</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0.004</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0.004</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0.0014</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600">
                          <a:solidFill>
                            <a:srgbClr val="000000"/>
                          </a:solidFill>
                          <a:latin typeface="Times New Roman" panose="02020503050405090304"/>
                          <a:ea typeface="SimSun"/>
                        </a:rPr>
                        <a:t>0.000046</a:t>
                      </a:r>
                      <a:endParaRPr sz="1600">
                        <a:solidFill>
                          <a:srgbClr val="000000"/>
                        </a:solidFill>
                        <a:latin typeface="Times New Roman" panose="02020503050405090304"/>
                        <a:ea typeface="SimSun"/>
                      </a:endParaRPr>
                    </a:p>
                  </a:txBody>
                  <a:tcPr marL="68580" marR="68580" marT="0" marB="0"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graphicFrame>
        <p:nvGraphicFramePr>
          <p:cNvPr id="4" name="Table 3"/>
          <p:cNvGraphicFramePr/>
          <p:nvPr/>
        </p:nvGraphicFramePr>
        <p:xfrm>
          <a:off x="3028950" y="4130040"/>
          <a:ext cx="3086100" cy="0"/>
        </p:xfrm>
        <a:graphic>
          <a:graphicData uri="http://schemas.openxmlformats.org/drawingml/2006/table">
            <a:tbl>
              <a:tblPr/>
              <a:tblGrid>
                <a:gridCol w="1371600"/>
                <a:gridCol w="1714500"/>
              </a:tblGrid>
              <a:tr h="0">
                <a:tc>
                  <a:txBody>
                    <a:bodyPr/>
                    <a:p>
                      <a:pPr marL="0" indent="0" algn="just">
                        <a:spcBef>
                          <a:spcPct val="0"/>
                        </a:spcBef>
                        <a:spcAft>
                          <a:spcPct val="0"/>
                        </a:spcAft>
                      </a:pPr>
                      <a:r>
                        <a:rPr sz="1800" b="1">
                          <a:latin typeface="Times New Roman" panose="02020503050405090304"/>
                          <a:ea typeface="SimSun"/>
                        </a:rPr>
                        <a:t>Dataset</a:t>
                      </a:r>
                      <a:endParaRPr sz="18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800" b="1">
                          <a:latin typeface="Times New Roman" panose="02020503050405090304"/>
                          <a:ea typeface="SimSun"/>
                        </a:rPr>
                        <a:t>Accuracy</a:t>
                      </a:r>
                      <a:endParaRPr sz="1800" b="1">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800">
                          <a:latin typeface="Times New Roman" panose="02020503050405090304"/>
                          <a:ea typeface="SimSun"/>
                        </a:rPr>
                        <a:t>ADFA-LD</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800">
                          <a:latin typeface="Times New Roman" panose="02020503050405090304"/>
                          <a:ea typeface="SimSun"/>
                        </a:rPr>
                        <a:t>97.11 ±  0.80</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800">
                          <a:latin typeface="Times New Roman" panose="02020503050405090304"/>
                          <a:ea typeface="SimSun"/>
                        </a:rPr>
                        <a:t>CICIDS2017</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800">
                          <a:latin typeface="Times New Roman" panose="02020503050405090304"/>
                          <a:ea typeface="SimSun"/>
                        </a:rPr>
                        <a:t>99.1 ± 0.25</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0">
                <a:tc>
                  <a:txBody>
                    <a:bodyPr/>
                    <a:p>
                      <a:pPr marL="0" indent="0" algn="just">
                        <a:spcBef>
                          <a:spcPct val="0"/>
                        </a:spcBef>
                        <a:spcAft>
                          <a:spcPct val="0"/>
                        </a:spcAft>
                      </a:pPr>
                      <a:r>
                        <a:rPr sz="1800">
                          <a:latin typeface="Times New Roman" panose="02020503050405090304"/>
                          <a:ea typeface="SimSun"/>
                        </a:rPr>
                        <a:t>MQTT</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just">
                        <a:spcBef>
                          <a:spcPct val="0"/>
                        </a:spcBef>
                        <a:spcAft>
                          <a:spcPct val="0"/>
                        </a:spcAft>
                      </a:pPr>
                      <a:r>
                        <a:rPr sz="1800">
                          <a:latin typeface="Times New Roman" panose="02020503050405090304"/>
                          <a:ea typeface="SimSun"/>
                        </a:rPr>
                        <a:t>99.99 ± 0.0001</a:t>
                      </a:r>
                      <a:endParaRPr sz="1800">
                        <a:latin typeface="Times New Roman" panose="02020503050405090304"/>
                        <a:ea typeface="SimSun"/>
                      </a:endParaRPr>
                    </a:p>
                  </a:txBody>
                  <a:tcPr marL="68580" marR="68580" marT="0"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6" name="Text Box 5"/>
          <p:cNvSpPr txBox="1"/>
          <p:nvPr/>
        </p:nvSpPr>
        <p:spPr>
          <a:xfrm>
            <a:off x="457200" y="3136900"/>
            <a:ext cx="8204200" cy="706755"/>
          </a:xfrm>
          <a:prstGeom prst="rect">
            <a:avLst/>
          </a:prstGeom>
        </p:spPr>
        <p:txBody>
          <a:bodyPr wrap="square">
            <a:spAutoFit/>
          </a:bodyPr>
          <a:p>
            <a:pPr marL="0" indent="0" algn="ctr" defTabSz="266700">
              <a:spcBef>
                <a:spcPct val="0"/>
              </a:spcBef>
              <a:spcAft>
                <a:spcPct val="0"/>
              </a:spcAft>
            </a:pPr>
            <a:r>
              <a:rPr sz="2000" cap="small">
                <a:latin typeface="Times New Roman" panose="02020503050405090304"/>
                <a:ea typeface="SimSun"/>
              </a:rPr>
              <a:t>Table </a:t>
            </a:r>
            <a:r>
              <a:rPr lang="en-US" sz="2000" cap="small">
                <a:latin typeface="Times New Roman" panose="02020503050405090304"/>
                <a:ea typeface="SimSun"/>
              </a:rPr>
              <a:t>3</a:t>
            </a:r>
            <a:r>
              <a:rPr sz="2000" cap="small">
                <a:latin typeface="Times New Roman" panose="02020503050405090304"/>
                <a:ea typeface="SimSun"/>
              </a:rPr>
              <a:t>. Validation of enhanced PIO with K-fold cross validation technique</a:t>
            </a:r>
            <a:endParaRPr sz="2000" cap="small">
              <a:latin typeface="Times New Roman" panose="02020503050405090304"/>
              <a:ea typeface="SimSu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FPR Comparison Graph</a:t>
            </a:r>
          </a:p>
        </p:txBody>
      </p:sp>
      <p:pic>
        <p:nvPicPr>
          <p:cNvPr id="3" name="Picture 2" descr="fpr_plot.png"/>
          <p:cNvPicPr>
            <a:picLocks noChangeAspect="1"/>
          </p:cNvPicPr>
          <p:nvPr/>
        </p:nvPicPr>
        <p:blipFill>
          <a:blip r:embed="rId1"/>
          <a:stretch>
            <a:fillRect/>
          </a:stretch>
        </p:blipFill>
        <p:spPr>
          <a:xfrm>
            <a:off x="914400" y="1371600"/>
            <a:ext cx="5486400" cy="411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Accuracy Comparison Graph</a:t>
            </a:r>
          </a:p>
        </p:txBody>
      </p:sp>
      <p:pic>
        <p:nvPicPr>
          <p:cNvPr id="3" name="Picture 2" descr="accuracy_plot.png"/>
          <p:cNvPicPr>
            <a:picLocks noChangeAspect="1"/>
          </p:cNvPicPr>
          <p:nvPr/>
        </p:nvPicPr>
        <p:blipFill>
          <a:blip r:embed="rId1"/>
          <a:stretch>
            <a:fillRect/>
          </a:stretch>
        </p:blipFill>
        <p:spPr>
          <a:xfrm>
            <a:off x="914400" y="1371600"/>
            <a:ext cx="5486400" cy="4114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lnSpcReduction="10000"/>
          </a:bodyPr>
          <a:lstStyle/>
          <a:p>
            <a:pPr marL="0" indent="0">
              <a:buNone/>
            </a:pPr>
            <a:r>
              <a:t>• </a:t>
            </a:r>
            <a:r>
              <a:rPr sz="2600">
                <a:latin typeface="Times New Roman Regular" panose="02020503050405090304" charset="0"/>
                <a:cs typeface="Times New Roman Regular" panose="02020503050405090304" charset="0"/>
              </a:rPr>
              <a:t>Enhanced PIO with mutation improves IDS performance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Achieves better global optimization</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Reduces false positives</a:t>
            </a:r>
            <a:endParaRPr sz="2600">
              <a:latin typeface="Times New Roman Regular" panose="02020503050405090304" charset="0"/>
              <a:cs typeface="Times New Roman Regular" panose="02020503050405090304" charset="0"/>
            </a:endParaRPr>
          </a:p>
          <a:p>
            <a:r>
              <a:rPr sz="2600" b="1" i="1">
                <a:latin typeface="Times New Roman Bold Italic" panose="02020503050405090304" charset="0"/>
                <a:cs typeface="Times New Roman Bold Italic" panose="02020503050405090304" charset="0"/>
              </a:rPr>
              <a:t>Future Work:</a:t>
            </a:r>
            <a:endParaRPr sz="2600" b="1" i="1">
              <a:latin typeface="Times New Roman Bold Italic" panose="02020503050405090304" charset="0"/>
              <a:cs typeface="Times New Roman Bold Italic" panose="02020503050405090304" charset="0"/>
            </a:endParaRPr>
          </a:p>
          <a:p>
            <a:r>
              <a:rPr sz="2600">
                <a:latin typeface="Times New Roman Regular" panose="02020503050405090304" charset="0"/>
                <a:cs typeface="Times New Roman Regular" panose="02020503050405090304" charset="0"/>
              </a:rPr>
              <a:t>Handle class imbalance (SMOTE)</a:t>
            </a:r>
            <a:endParaRPr sz="2600">
              <a:latin typeface="Times New Roman Regular" panose="02020503050405090304" charset="0"/>
              <a:cs typeface="Times New Roman Regular" panose="02020503050405090304" charset="0"/>
            </a:endParaRPr>
          </a:p>
          <a:p>
            <a:r>
              <a:rPr sz="2600">
                <a:latin typeface="Times New Roman Regular" panose="02020503050405090304" charset="0"/>
                <a:cs typeface="Times New Roman Regular" panose="02020503050405090304" charset="0"/>
              </a:rPr>
              <a:t>Real-time deployment in networks</a:t>
            </a:r>
            <a:endParaRPr sz="2600">
              <a:latin typeface="Times New Roman Regular" panose="02020503050405090304" charset="0"/>
              <a:cs typeface="Times New Roman Regular" panose="0202050305040509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Regular" panose="02020503050405090304" charset="0"/>
                <a:cs typeface="Times New Roman Regular" panose="02020503050405090304" charset="0"/>
              </a:rPr>
              <a:t>References:</a:t>
            </a:r>
            <a:endParaRPr lang="en-US">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a:normAutofit fontScale="30000"/>
          </a:bodyPr>
          <a:p>
            <a:pPr marL="0" indent="0" algn="just">
              <a:buNone/>
            </a:pPr>
            <a:r>
              <a:rPr lang="en-US" altLang="en-US" sz="4000">
                <a:latin typeface="Times New Roman Regular" panose="02020503050405090304" charset="0"/>
                <a:cs typeface="Times New Roman Regular" panose="02020503050405090304" charset="0"/>
              </a:rPr>
              <a:t>[1]H. Nguyen, G. Scalosub, and R. Zheng, “On quality of monitoring for multichannel wireless infrastructure networks,” IEEE Trans. Mobile Comput., vol. 13, no. 3, pp. 664–677, 2014.</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[2]R. Perdisci, G. Giacinto, and F. Roli, “Alarm clustering for intrusion detection system in computer networks,” Eng. Appl. Artif. Intell., vol. 19, no. 4, pp. 429–438, 2006.</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[3]M. Dash, H. Liu, and H. Motoda, “Consistency based feature selection,” Lect. Notes Comput. Sci., vol. 1805, pp. 98–109, 2003.</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[4]M. Montazeri, M. Montazeri, H. R. Naji, and A. Faraahi, “A novel memetic feature selection algorithm,” in Proc. 5th Conf. Inf. Knowl. Technol., May 2013, pp. 295–300.</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[5]H. Liu and H. Motoda, *Feature Selection for Knowledge Discovery and Data Mining*, The Springer International Series in Engineering and Computer Science, vol. 454. New York, NY, USA: Springer, 1998, 224 pp.</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[6]M. A. Hall, “Correlation-based feature selection for machine learning,” Ph.D. dissertation, Univ. Waikato, Hamilton, New Zealand, 1999.</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[7]L. Cao, L. Xu, and E. D. Goodman, “A guiding evolutionary algorithm with greedy strategy for global optimization problems,” Comput. Intell. Neurosci., vol. 2016, pp. 1–10, 2016.</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[8]R. Vijayanand, D. Devaraj, and B. Kannapiran, “A novel intrusion detection system for wireless mesh network with hybrid feature selection technique based on GA and MI,” J. Intell. Fuzzy Syst., vol. 34, no. 1, pp. 1243–1250, 2018.</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[9]C. Huang and C. Wang, “A GA based feature selection and parameter optimization for support vector machines,” Expert Syst., vol. 31, pp. 231–240, 2006.</a:t>
            </a:r>
            <a:endParaRPr lang="en-US" altLang="en-US" sz="4000">
              <a:latin typeface="Times New Roman Regular" panose="02020503050405090304" charset="0"/>
              <a:cs typeface="Times New Roman Regular" panose="02020503050405090304" charset="0"/>
            </a:endParaRPr>
          </a:p>
          <a:p>
            <a:pPr marL="0" indent="0" algn="just">
              <a:buNone/>
            </a:pPr>
            <a:r>
              <a:rPr lang="en-US" altLang="en-US" sz="4000">
                <a:latin typeface="Times New Roman Regular" panose="02020503050405090304" charset="0"/>
                <a:cs typeface="Times New Roman Regular" panose="02020503050405090304" charset="0"/>
              </a:rPr>
              <a:t>[10]Vijayanand. R and Devaraj. D, “A novel feature selection method using whale optimization algorithm and genetic operators for intrusion detection system in wireless mesh network”, IEEE Access, March 2020. DOI:</a:t>
            </a:r>
            <a:r>
              <a:rPr lang="en-US" altLang="en-US" sz="4000">
                <a:latin typeface="Times New Roman Regular" panose="02020503050405090304" charset="0"/>
                <a:cs typeface="Times New Roman Regular" panose="02020503050405090304" charset="0"/>
              </a:rPr>
              <a:t> </a:t>
            </a:r>
            <a:r>
              <a:rPr lang="en-US" altLang="en-US" sz="4000">
                <a:latin typeface="Times New Roman Regular" panose="02020503050405090304" charset="0"/>
                <a:cs typeface="Times New Roman Regular" panose="02020503050405090304" charset="0"/>
              </a:rPr>
              <a:t>10.1109/ACCESS.2020.2978035.</a:t>
            </a:r>
            <a:endParaRPr lang="en-US" altLang="en-US" sz="4000">
              <a:latin typeface="Times New Roman Regular" panose="02020503050405090304" charset="0"/>
              <a:cs typeface="Times New Roman Regular" panose="0202050305040509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6119</Words>
  <Application>WPS Writer</Application>
  <PresentationFormat>On-screen Show (4:3)</PresentationFormat>
  <Paragraphs>343</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SimSun</vt:lpstr>
      <vt:lpstr>Wingdings</vt:lpstr>
      <vt:lpstr>Arial</vt:lpstr>
      <vt:lpstr>Times New Roman Bold Italic</vt:lpstr>
      <vt:lpstr>Times New Roman Regular</vt:lpstr>
      <vt:lpstr>Calibri</vt:lpstr>
      <vt:lpstr>Helvetica Neue</vt:lpstr>
      <vt:lpstr>Microsoft YaHei</vt:lpstr>
      <vt:lpstr>汉仪旗黑</vt:lpstr>
      <vt:lpstr>Arial Unicode MS</vt:lpstr>
      <vt:lpstr>宋体-简</vt:lpstr>
      <vt:lpstr>SimSun</vt:lpstr>
      <vt:lpstr>Times New Roman</vt:lpstr>
      <vt:lpstr>Office Theme</vt:lpstr>
      <vt:lpstr>A Feature Selection Method Using Enhanced Pigeon Inspired Optimization with Mutation Operator for Intrusion Detection System</vt:lpstr>
      <vt:lpstr>Presentation Outline</vt:lpstr>
      <vt:lpstr>Abstract</vt:lpstr>
      <vt:lpstr>Need for Feature Selection</vt:lpstr>
      <vt:lpstr>Introduction</vt:lpstr>
      <vt:lpstr>Problem Statement</vt:lpstr>
      <vt:lpstr>Literature Survey 1</vt:lpstr>
      <vt:lpstr>Literature Survey 2</vt:lpstr>
      <vt:lpstr>Literature Survey 3</vt:lpstr>
      <vt:lpstr>Proposed Methodology</vt:lpstr>
      <vt:lpstr>PIO Algorithm</vt:lpstr>
      <vt:lpstr>Mutation Operator</vt:lpstr>
      <vt:lpstr>SVM Classifier</vt:lpstr>
      <vt:lpstr>Flowchart of Proposed Method</vt:lpstr>
      <vt:lpstr>Datasets Used</vt:lpstr>
      <vt:lpstr>Results &amp; Discussion</vt:lpstr>
      <vt:lpstr>PowerPoint 演示文稿</vt:lpstr>
      <vt:lpstr>PowerPoint 演示文稿</vt:lpstr>
      <vt:lpstr>FPR Comparison Graph</vt:lpstr>
      <vt:lpstr>Accuracy Comparison Graph</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dc:description>generated using python-pptx</dc:description>
  <cp:lastModifiedBy>WPS_1771657719</cp:lastModifiedBy>
  <cp:revision>5</cp:revision>
  <dcterms:created xsi:type="dcterms:W3CDTF">2026-03-24T03:57:28Z</dcterms:created>
  <dcterms:modified xsi:type="dcterms:W3CDTF">2026-03-24T03:57:28Z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35CE81E2F75BA8A849E8C169537BBAE4_42</vt:lpwstr>
  </property>
  <property fmtid="{D5CDD505-2E9C-101B-9397-08002B2CF9AE}" pid="3" name="KSOProductBuildVer">
    <vt:lpwstr>1033-6.15.0.8733</vt:lpwstr>
  </property>
</Properties>
</file>