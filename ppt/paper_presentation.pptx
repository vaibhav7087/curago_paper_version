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two everyday decisions on a rural telemedicine platform, answered only with public data. Byline is a placeholder in the current draft.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 decisions and their asymmetric error costs. Surveillance has no labels, which dictates an alert-budget, descriptive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sources are free and public. NHAMCS and covid19india carry DOI/URL citations; Kaggle is CC BY-NC. Fail-closed means a stale download cannot silently degrade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figure straight from the paper. Emphasise: thresholds are tuned on validation folds only; the conformal layer wraps the tuned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Under-triage is the metric the platform cares about; the tuned threshold cuts it by roughly two thirds while keeping recall high. Abstention makes the residual uncertainty explicit.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honesty centrepiece: the conformal layer restores a statistical guarantee, but it is marginal across splits, and 46% of splits miss the nominal target. Stated in abstract, results and conclusion.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Biggest enrichment is on the Delta wave with a two-week median lead. Caveat is printed on the slide: no outbreak labels, so this is description at a fixed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aloud if time is short. Judges reward calibrated claims: each limitation here is also stated in the abstract or results of the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Reproducibility is treated as a feature of the pipeline, not a README promise: fail-closed inputs, deterministic seeds, and one numeric source of truth across four output formats.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three claims the evidence actually supports, then the honest future-work list. Invite questions on the conformal layer or the transfer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13-item bibliography as the PDF, exported from the compiled .bbl — citation numbering is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011680"/>
            <a:ext cx="6583680" cy="6583680"/>
          </a:xfrm>
          <a:prstGeom prst="ellipse">
            <a:avLst/>
          </a:prstGeom>
          <a:solidFill>
            <a:srgbClr val="00A896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480560"/>
            <a:ext cx="3291840" cy="3291840"/>
          </a:xfrm>
          <a:prstGeom prst="ellipse">
            <a:avLst/>
          </a:prstGeom>
          <a:solidFill>
            <a:srgbClr val="02C39A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10241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Real-Data Machine Learning for Rural Telemedicine Triage and Outbreak Surveillance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22960" y="35661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One, Author Two  ·  Placeholder Department, Placeholder Institute, City, India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404164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Nexathon II  ·  Paper Presentation  ·  AIKTC  ·  9 October 2026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51713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real-world data only  ·  no synthetic records  ·  released for exact reproduction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5577840"/>
            <a:ext cx="3310128" cy="548640"/>
          </a:xfrm>
          <a:prstGeom prst="roundRect">
            <a:avLst>
              <a:gd name="adj" fmla="val 11667"/>
            </a:avLst>
          </a:prstGeom>
          <a:solidFill>
            <a:srgbClr val="0E5560"/>
          </a:solidFill>
          <a:ln w="9525">
            <a:solidFill>
              <a:srgbClr val="0E5560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50976" y="568756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557784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5-page paper, 13 references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5577840"/>
            <a:ext cx="3310128" cy="548640"/>
          </a:xfrm>
          <a:prstGeom prst="roundRect">
            <a:avLst>
              <a:gd name="adj" fmla="val 11667"/>
            </a:avLst>
          </a:prstGeom>
          <a:solidFill>
            <a:srgbClr val="0E5560"/>
          </a:solidFill>
          <a:ln w="9525">
            <a:solidFill>
              <a:srgbClr val="0E5560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43984" y="568756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64608" y="557784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Seed-42 byte-identical reruns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808976" y="5577840"/>
            <a:ext cx="3310128" cy="548640"/>
          </a:xfrm>
          <a:prstGeom prst="roundRect">
            <a:avLst>
              <a:gd name="adj" fmla="val 11667"/>
            </a:avLst>
          </a:prstGeom>
          <a:solidFill>
            <a:srgbClr val="0E5560"/>
          </a:solidFill>
          <a:ln w="9525">
            <a:solidFill>
              <a:srgbClr val="0E5560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936992" y="5687568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57616" y="5577840"/>
            <a:ext cx="2633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data pipeline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decisions, asymmetric errors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45352" y="1280160"/>
            <a:ext cx="5394960" cy="3977640"/>
          </a:xfrm>
          <a:prstGeom prst="roundRect">
            <a:avLst>
              <a:gd name="adj" fmla="val 1839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554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26464" y="1554480"/>
            <a:ext cx="4242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Patient-level triage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121408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callers can be managed remotely, and which need urgent escalation? Errors are asymmetric: a missed high-acuity patient is a safety event, while an unnecessary referral costs access and trust.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4251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15.2% of encounters are high-acuity; uncertain cases must be deferred, not guessed.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9672" y="1554480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23176" y="1554480"/>
            <a:ext cx="4242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Population-level outbreak signal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19672" y="2121408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district-week part of a developing wave? In routine public surveillance there is no outbreak label to train on — only a fixed weekly review budget, so every alert displaces another.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19672" y="425196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Constraint: a top-5% alert budget, and evaluation that must stay descriptive.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566928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6656" y="58064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97280" y="566928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layers run on ordinary public data — no proprietary EHR, no private sensor feed, no synthetic records.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real public datasets — nothing synthetic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4721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13,595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analysis encounters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2587752"/>
            <a:ext cx="3246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NHAMCS 2019 public microdata (19,481 raw, protocol exclusions applied)  [1]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8536" y="1325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71416" y="14721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126,712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4471416" y="21945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district-weeks of SARI signals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471416" y="2587752"/>
            <a:ext cx="3246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covid19india public archive, 840 districts, 2020–2023  [2]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28432" y="1325880"/>
            <a:ext cx="3611880" cy="2697480"/>
          </a:xfrm>
          <a:prstGeom prst="roundRect">
            <a:avLst>
              <a:gd name="adj" fmla="val 2712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11312" y="1472184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8211312" y="21945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pharmacy sales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11312" y="2587752"/>
            <a:ext cx="324612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monthly series, CC BY-NC 4.0 — supplementary forecast task  [3]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15968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" y="4434840"/>
            <a:ext cx="329184" cy="329184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315968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raw file ⇒ hard FileNotFoundError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288536" y="4315968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16552" y="44348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37176" y="4315968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42 — byte-identical reruns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28432" y="4315968"/>
            <a:ext cx="361188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56448" y="44348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577072" y="4315968"/>
            <a:ext cx="2935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synthetic rows anywhere in the pipeline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2303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dataset is public and licensed; URLs, retrieval dates and licences are cited in the paper — see Data Availability.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modules, one reproducible pipeline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12648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0_pip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5852160" cy="3749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903720" y="1234440"/>
            <a:ext cx="4736592" cy="1920240"/>
          </a:xfrm>
          <a:prstGeom prst="roundRect">
            <a:avLst>
              <a:gd name="adj" fmla="val 381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04888" y="1444752"/>
            <a:ext cx="402336" cy="402336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616952" y="1444752"/>
            <a:ext cx="3822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— patient triage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104888" y="1938528"/>
            <a:ext cx="4334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Class-weighted XGBoost risk score → tuned operating threshold → abstention for uncertain cases → split-conformal recall control at α = 0.15.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903720" y="3337560"/>
            <a:ext cx="4736592" cy="1920240"/>
          </a:xfrm>
          <a:prstGeom prst="roundRect">
            <a:avLst>
              <a:gd name="adj" fmla="val 381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04888" y="3547872"/>
            <a:ext cx="402336" cy="402336"/>
          </a:xfrm>
          <a:prstGeom prst="ellipse">
            <a:avLst/>
          </a:prstGeom>
          <a:solidFill>
            <a:srgbClr val="00A89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616952" y="3547872"/>
            <a:ext cx="3822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— district outbreak signal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7104888" y="4041648"/>
            <a:ext cx="43342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IsolationForest anomaly score per district-week → fixed 5% weekly alert budget → top-scoring district-weeks surfaced for review, then described retrospectively.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557784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76656" y="571500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97280" y="557784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modules recompute from raw CSVs; every table and figure in the paper is a generated artifact — never hand-edited.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1 — discrimination and operating point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989320" cy="484632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1_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371600"/>
            <a:ext cx="5715000" cy="4343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5742432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Cross-validated ROC, seed 42 — regenerated from ds/paper_figures.py.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766560" y="123444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949440" y="138074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0.732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6949440" y="2103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CV AUC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6949440" y="249631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0.719 for the logistic baseline [6]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418320" y="123444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0" y="138074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15.5%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9601200" y="21031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under-triage at t = 0.25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9601200" y="249631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from 48.7% at the default t = 0.05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766560" y="370332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949440" y="384962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0.845</a:t>
            </a:r>
            <a:endParaRPr lang="en-US" sz="3300" dirty="0"/>
          </a:p>
        </p:txBody>
      </p:sp>
      <p:sp>
        <p:nvSpPr>
          <p:cNvPr id="16" name="Text 13"/>
          <p:cNvSpPr/>
          <p:nvPr/>
        </p:nvSpPr>
        <p:spPr>
          <a:xfrm>
            <a:off x="6949440" y="4572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at the chosen point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949440" y="496519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0.207 under heavy class imbalance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418320" y="3703320"/>
            <a:ext cx="2514600" cy="2286000"/>
          </a:xfrm>
          <a:prstGeom prst="roundRect">
            <a:avLst>
              <a:gd name="adj" fmla="val 320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601200" y="384962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23.5%</a:t>
            </a:r>
            <a:endParaRPr lang="en-US" sz="3300" dirty="0"/>
          </a:p>
        </p:txBody>
      </p:sp>
      <p:sp>
        <p:nvSpPr>
          <p:cNvPr id="20" name="Text 17"/>
          <p:cNvSpPr/>
          <p:nvPr/>
        </p:nvSpPr>
        <p:spPr>
          <a:xfrm>
            <a:off x="9601200" y="45720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abstention rate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601200" y="4965192"/>
            <a:ext cx="2148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cases deferred to a human instead of forced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Split-conformal recall control — and its honest cost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4_conformal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298448"/>
            <a:ext cx="5266944" cy="34381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011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distribution over 200 random splits, α = 0.15.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309360" y="1188720"/>
            <a:ext cx="5330952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7" name="Image 1" descr="C:\Users\Vaibhav\projects\hackathon_projects\curago_paper_version\ds\models\paper\paper_fig3_tradeoff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19088" y="1298448"/>
            <a:ext cx="5111496" cy="34381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09360" y="4901184"/>
            <a:ext cx="5330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Threshold–coverage trade-off, split means ± SD.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7368"/>
            </a:avLst>
          </a:prstGeom>
          <a:solidFill>
            <a:srgbClr val="FBF0DE"/>
          </a:solidFill>
          <a:ln w="9525">
            <a:solidFill>
              <a:srgbClr val="E8D5AC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676656" y="5664708"/>
            <a:ext cx="329184" cy="329184"/>
          </a:xfrm>
          <a:prstGeom prst="ellipse">
            <a:avLst/>
          </a:prstGeom>
          <a:solidFill>
            <a:srgbClr val="8F5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097280" y="539496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Marginal, not per-patient: mean recall 0.850 (SD 0.027), yet 46% of splits fall below the 0.85 target — we report the failures rather than average them away.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2 — outbreak surveillance, described not claimed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30936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pic>
        <p:nvPicPr>
          <p:cNvPr id="4" name="Image 0" descr="C:\Users\Vaibhav\projects\hackathon_projects\curago_paper_version\ds\models\paper\paper_fig5_outbrea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344168"/>
            <a:ext cx="6089904" cy="27980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1596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IsolationForest flags across 126,712 district-weeks — regenerated from ds/paper_figures.py.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892040"/>
            <a:ext cx="6309360" cy="1280160"/>
          </a:xfrm>
          <a:prstGeom prst="roundRect">
            <a:avLst>
              <a:gd name="adj" fmla="val 5000"/>
            </a:avLst>
          </a:prstGeom>
          <a:solidFill>
            <a:srgbClr val="FBF0DE"/>
          </a:solidFill>
          <a:ln w="9525">
            <a:solidFill>
              <a:srgbClr val="E8D5AC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5367528"/>
            <a:ext cx="329184" cy="329184"/>
          </a:xfrm>
          <a:prstGeom prst="ellipse">
            <a:avLst/>
          </a:prstGeom>
          <a:solidFill>
            <a:srgbClr val="8F52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" y="4892040"/>
            <a:ext cx="563270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only: no labelled outbreak ground truth exists in routine district data [2]. Enrichment is retrospective description at a fixed budget — not a validated detector.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086600" y="1234440"/>
            <a:ext cx="4553712" cy="1298448"/>
          </a:xfrm>
          <a:prstGeom prst="roundRect">
            <a:avLst>
              <a:gd name="adj" fmla="val 5634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69480" y="1325880"/>
            <a:ext cx="4187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7.0×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269480" y="1819656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Delta-wave enrichment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269480" y="2148840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rate inside the wave vs background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086600" y="2752344"/>
            <a:ext cx="4553712" cy="1298448"/>
          </a:xfrm>
          <a:prstGeom prst="roundRect">
            <a:avLst>
              <a:gd name="adj" fmla="val 5634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269480" y="2843784"/>
            <a:ext cx="4187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weeks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269480" y="3337560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lead over the wave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269480" y="366674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fixed 5% alert budget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086600" y="4270248"/>
            <a:ext cx="4553712" cy="1298448"/>
          </a:xfrm>
          <a:prstGeom prst="roundRect">
            <a:avLst>
              <a:gd name="adj" fmla="val 5634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269480" y="4361688"/>
            <a:ext cx="41879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7269480" y="4855464"/>
            <a:ext cx="4187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Delta weeks flagged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269480" y="5184648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3.6% of weeks outside it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22529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07008" y="1188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Marginal, not per-patient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Conformal recall control guarantees the population of splits; 46% of them sat below the 0.85 target (mean 0.850).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27685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07008" y="224028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is unproven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US NHAMCS emergency-department data; rural Indian telemedicine casemix and workflow differ. External validation is future work, not a result.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32841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07008" y="329184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Probabilities are overconfident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Brier score 0.158 at seed 42: discrimination is solid, calibration is not — do not read scores as risk percentages.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4379976"/>
            <a:ext cx="457200" cy="457200"/>
          </a:xfrm>
          <a:prstGeom prst="ellipse">
            <a:avLst/>
          </a:prstGeom>
          <a:solidFill>
            <a:srgbClr val="FBF0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07008" y="434340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Outbreak detection is descriptive — </a:t>
            </a:r>
            <a:pPr indent="0" marL="0">
              <a:buNone/>
            </a:pPr>
            <a:r>
              <a:rPr lang="en-US" sz="14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IsolationForest enrichment is retrospective description at a 5% budget; naive baselines and NEWS2 stay competitive (cutoff 1: precision 0.168, recall 0.669).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562356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6656" y="576072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562356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eight mandated disclosures are machine-checked in paper/audit.py and pass — full text in Section V of the paper.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by construction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68096" y="1499616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35024" y="149961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data pipeline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68096" y="20574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or stale raw file raises FileNotFoundError. No silent imputation, no synthetic backfill, no cached numbers on disk.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280160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37376" y="1499616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004304" y="1499616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42, byte-identical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37376" y="2057400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runs produce identical CSVs and PNGs; published metrics are read back from generated artifacts at build time.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10128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8096" y="3529584"/>
            <a:ext cx="420624" cy="420624"/>
          </a:xfrm>
          <a:prstGeom prst="ellipse">
            <a:avLst/>
          </a:prstGeom>
          <a:solidFill>
            <a:srgbClr val="00A89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35024" y="352958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JSON behind every number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68096" y="408736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LaTeX, Markdown, DOCX and this deck all resolve metrics from paper_numbers.json — zero hand-typed figures.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310128"/>
            <a:ext cx="5422392" cy="1810512"/>
          </a:xfrm>
          <a:prstGeom prst="roundRect">
            <a:avLst>
              <a:gd name="adj" fmla="val 4040"/>
            </a:avLst>
          </a:prstGeom>
          <a:solidFill>
            <a:srgbClr val="EFF7F7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37376" y="3529584"/>
            <a:ext cx="420624" cy="42062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04304" y="3529584"/>
            <a:ext cx="44165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audits on every build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37376" y="4087368"/>
            <a:ext cx="4983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citations, originality, honesty disclosures and IEEE format are machine-checked — all pass.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669280"/>
            <a:ext cx="1109167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9525">
            <a:solidFill>
              <a:srgbClr val="DCEBEB"/>
            </a:solidFill>
            <a:prstDash val="solid"/>
          </a:ln>
          <a:effectLst>
            <a:outerShdw sx="100000" sy="100000" kx="0" ky="0" algn="bl" rotWithShape="0" blurRad="88900" dist="25400" dir="5400000">
              <a:srgbClr val="7FA8AC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76656" y="5806440"/>
            <a:ext cx="329184" cy="329184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669280"/>
            <a:ext cx="104150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github.com/vaibhav7087/curago_paper_version  ·  MIT licence  ·  data licences, URLs and retrieval dates in Data Availability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3D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937760"/>
            <a:ext cx="4754880" cy="4754880"/>
          </a:xfrm>
          <a:prstGeom prst="ellipse">
            <a:avLst/>
          </a:prstGeom>
          <a:solidFill>
            <a:srgbClr val="00A896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08760" y="1600200"/>
            <a:ext cx="9966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public data, tuned honestly, beats naive baselines on both tasks — AUC 0.732 for triage and 7.0× outbreak enrichment — with protocol limits stated up front.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94436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898648"/>
            <a:ext cx="9966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marginal guarantee is worth having: mean recall 0.850 with 46% of splits below target — provided you publish the failures alongside the mean.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424281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3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08760" y="4197096"/>
            <a:ext cx="9966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 is a feature, not a footnote: fail-closed inputs, byte-identical seed-42 reruns, and one JSON behind every number in four output formats.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prospective validation on rural-Indian telemedicine casemix, drift monitoring, calibration repair — SHAP, calibration and forecast artifacts ship with the repository.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234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557784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National Center for Health Statistics, "National hospital ambulatory medical care survey: 2019 emergency department summary," Centers for Disease Control and Prevention (CDC), 2019, data documentation: https://ftp.cdc.gov/pub/Health_Statistics/NCHS/Dataset_Documentation/NHAMCS/doc19-ed-508.pdf. [Online]. Available: https://www.cdc.gov/nchs/nhamcs/documentation/about-the-data-2019.html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covid19india.com Data Operations Group and incovid19 Team, "Covid-19 india national and district-level time-series archive," Static data archive hosted at https://data.incovid19.org/, 2023, retrieved 2026-10-07. Retrospective observed series from 2020-04-26 to 2023-08-22 across 840 state-qualified districts.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M. Zdravković, "Pharma sales data: Point-of-sale transactional dataset resampled to monthly aggregates," Kaggle, 2019, license: Creative Commons Attribution-NonCommercial 4.0 International (CC BY-NC 4.0). [Online]. Available: https://www.kaggle.com/datasets/milanzdravkovic/pharma-sales-data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Royal College of Physicians, *National Early Warning Score (NEWS) 2: Standardising the Assessment of Acute-Illness Severity in the NHS*. London, UK: Royal College of Physicians, 2017, report of a working party.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G. B. Smith, D. R. Prytherch, P. Meredith, P. E. Schmidt, and P. I. Featherstone, "The ability of the National Early Warning Score (NEWS) to discriminate patients at risk of early death in acute medical admissions," *Resuscitation*, vol. 84, no. 4, pp. 465–470, 2013.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T. Chen and C. Guestrin, "XGBoost: A scalable tree boosting system," in *Proceedings of the 22nd ACM SIGKDD International Conference on Knowledge Discovery and Data Mining (KDD '16)*, 2016, pp. 785–794.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G. Ke, Q. Meng, T. Finley, T. Wang, W. Chen, W. Ma, Q. Ye, and T.-Y. Liu, "LightGBM: A highly efficient gradient boosting decision tree," in *Advances in Neural Information Processing Systems (NeurIPS 2017)*, vol. 30, 2017, pp. 3146–3154.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6263640" y="1051560"/>
            <a:ext cx="5577840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F. Pedregosa, G. Varoquaux, A. Gramfort, V. Michel, B. Thirion, O. Grisel, M. Blondel, P. Prettenhofer, R. Weiss, V. Dubourg, J. Vanderplas, A. Passos, D. Cournapeau, M. Brucher, M. Perrot, and É. Duchesnay, "Scikit-learn: Machine learning in Python," *Journal of Machine Learning Research (JMLR)*, vol. 12, pp. 2825–2830, 2011.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V. Vovk, A. Gammerman, and G. Shafer, *Algorithmic Learning in a Random World*. New York, NY, USA: Springer Science &amp; Business Media, 2005.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A. N. Angelopoulos and S. Bates, "A gentle introduction to conformal prediction and distribution-free uncertainty quantification," *arXiv preprint arXiv:2107.07511*, 2021.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S. M. Lundberg and S.-I. Lee, "A unified approach to interpreting model predictions," in *Advances in Neural Information Processing Systems (NeurIPS 2017)*, vol. 30, 2017, pp. 4765–4774.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J. Clarke, M. U. G. Kraemer, and et al., "OpenDengue: Data platform for global dengue surveillance," *Scientific Data*, vol. 11, no. 1, p. 324, 2024.</a:t>
            </a:r>
            <a:endParaRPr lang="en-US" sz="9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950" dirty="0">
                <a:solidFill>
                  <a:srgbClr val="355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S. Seabold and J. Perktold, "Statsmodels: Econometric and statistical modeling with Python," in *Proceedings of the 9th Python in Science Conference (SciPy 2010)*, 2010, pp. 92–96.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475720" y="6473952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F7E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Real-Data Machine Learning for Rural Telemedicine Triage and Outbreak Surveillance</dc:title>
  <dc:subject>Nexathon II paper presentation</dc:subject>
  <dc:creator>Placeholder Department</dc:creator>
  <cp:lastModifiedBy>Placeholder Department</cp:lastModifiedBy>
  <cp:revision>1</cp:revision>
  <dcterms:created xsi:type="dcterms:W3CDTF">2026-10-07T21:24:43Z</dcterms:created>
  <dcterms:modified xsi:type="dcterms:W3CDTF">2026-10-07T21:24:43Z</dcterms:modified>
</cp:coreProperties>
</file>