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two everyday decisions on a rural telemedicine platform, answered only with public data. Byline is a placeholder in the current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decisions and their asymmetric error costs. Surveillance has no labels, which dictates an alert-budget, descriptive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sources are free and public. NHAMCS and covid19india carry DOI/URL citations; Kaggle is CC BY-NC. Fail-closed means a stale download cannot silently degrade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figure straight from the paper. Emphasise: thresholds are tuned on validation folds only; the conformal layer wraps the tuned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Under-triage is the metric the platform cares about: the default t=0.5 threshold with a calibrated model is far too conservative (85.9% under-triage), so cross-fitted threshold selection is the lever. The nested estimate tunes each outer fold on the other four only — no test-fold peeking. Brier below the constant baseline means the probabilities are calibrated enough to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core: the textbook conformal rule is marginal — 12.5% of the 200 splits miss the nominal 0.85 target. The PAC (Beta order-statistic) rule buys a per-split-style bound: below-target share drops to 3.5% (within delta=10%) with slightly higher mean recall; the price is a lower threshold and precision 0.191 vs 0.196. Both rules are stated in the abstract, results and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enrichment is on the Delta wave with a two-week median lead. Caveat is printed on the slide: no outbreak labels, so this is description at a fixed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aloud if time is short. Judges reward calibrated claims: each limitation here is also stated in the abstract or results of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Reproducibility is treated as a feature of the pipeline, not a README promise: fail-closed inputs, deterministic seeds, and one numeric source of truth across four output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claims the evidence actually supports, then the honest future-work list. Invite questions on the conformal layer or the transfer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13-item bibliography as the PDF, exported from the compiled .bbl — citation numbering is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583680" cy="658368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480560"/>
            <a:ext cx="3291840" cy="32918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Real-Data Machine Learning for Telemedicine Triage and Outbreak Surveillance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One, Author Two  ·  Placeholder Department, Placeholder Institute, City, India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40416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Nexathon II  ·  Paper Presentation  ·  AIKTC  ·  9 October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517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real-world data only  ·  no synthetic records  ·  released for exact reproduction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5577840"/>
            <a:ext cx="3310128" cy="548640"/>
          </a:xfrm>
          <a:prstGeom prst="roundRect">
            <a:avLst>
              <a:gd name="adj" fmla="val 11667"/>
            </a:avLst>
          </a:prstGeom>
          <a:solidFill>
            <a:srgbClr val="0E5560"/>
          </a:solidFill>
          <a:ln w="9525">
            <a:solidFill>
              <a:srgbClr val="0E5560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" y="56875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6-page paper, 13 references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5577840"/>
            <a:ext cx="3310128" cy="548640"/>
          </a:xfrm>
          <a:prstGeom prst="roundRect">
            <a:avLst>
              <a:gd name="adj" fmla="val 11667"/>
            </a:avLst>
          </a:prstGeom>
          <a:solidFill>
            <a:srgbClr val="0E5560"/>
          </a:solidFill>
          <a:ln w="9525">
            <a:solidFill>
              <a:srgbClr val="0E5560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43984" y="56875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55778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Seed-42 byte-identical reruns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08976" y="5577840"/>
            <a:ext cx="3310128" cy="548640"/>
          </a:xfrm>
          <a:prstGeom prst="roundRect">
            <a:avLst>
              <a:gd name="adj" fmla="val 11667"/>
            </a:avLst>
          </a:prstGeom>
          <a:solidFill>
            <a:srgbClr val="0E5560"/>
          </a:solidFill>
          <a:ln w="9525">
            <a:solidFill>
              <a:srgbClr val="0E5560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36992" y="56875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57616" y="55778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data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decisions, asymmetric errors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45352" y="12801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26464" y="155448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triage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callers can be managed remotely, and which need urgent escalation? Errors are asymmetric: a missed high-acuity patient is a safety event, while an unnecessary referral costs access and trust.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15.2% of encounters are high-acuity; uncertain cases must be deferred, not guessed.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9672" y="1554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23176" y="155448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Population-level outbreak signal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19672" y="212140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district-week part of a developing wave? In routine public surveillance there is no outbreak label to train on — only a fixed weekly review budget, so every alert displaces another.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4251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a top-5% alert budget, and evaluation that must stay descriptive.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" y="580644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run on ordinary public data — no proprietary EHR, no private sensor feed, no synthetic records.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public datasets — nothing synthetic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721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13,595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analysis encounters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587752"/>
            <a:ext cx="32461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NHAMCS 2019 public microdata (19,481 raw, protocol exclusions applied)  [1]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8536" y="13258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4721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126,712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471416" y="2194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district-weeks of SARI signals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71416" y="2587752"/>
            <a:ext cx="32461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covid19india public archive, 840 districts, 2020–2023  [2]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28432" y="13258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11312" y="14721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211312" y="2194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pharmacy sales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11312" y="2587752"/>
            <a:ext cx="32461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monthly series, CC BY-NC 4.0 — supplementary forecast task  [3]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" y="4434840"/>
            <a:ext cx="329184" cy="329184"/>
          </a:xfrm>
          <a:prstGeom prst="ellipse">
            <a:avLst/>
          </a:prstGeom>
          <a:solidFill>
            <a:srgbClr val="FBF0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31596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raw file ⇒ hard FileNotFoundError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88536" y="4315968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16552" y="443484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7176" y="431596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— byte-identical reruns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28432" y="4315968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56448" y="443484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77072" y="4315968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synthetic rows anywhere in the pipeline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is public and licensed; URLs, retrieval dates and licences are cited in the paper — see Data Availability.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modules, one reproducible pipeline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1264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pic>
        <p:nvPicPr>
          <p:cNvPr id="4" name="Image 0" descr="C:\Users\Vaibhav\projects\hackathon_projects\curago_paper_version\ds\models\paper\paper_fig0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8521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234440"/>
            <a:ext cx="4736592" cy="1920240"/>
          </a:xfrm>
          <a:prstGeom prst="roundRect">
            <a:avLst>
              <a:gd name="adj" fmla="val 381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04888" y="14447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16952" y="144475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patient triage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104888" y="1938528"/>
            <a:ext cx="4334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XGBoost (isotonic) risk score → cross-fitted tuned threshold → abstention for uncertain cases → PAC split-conformal recall control at α = 0.15.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03720" y="3337560"/>
            <a:ext cx="4736592" cy="1920240"/>
          </a:xfrm>
          <a:prstGeom prst="roundRect">
            <a:avLst>
              <a:gd name="adj" fmla="val 381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04888" y="354787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16952" y="354787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district outbreak signal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104888" y="4041648"/>
            <a:ext cx="4334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anomaly score per district-week → fixed 5% weekly alert budget → top-scoring district-weeks surfaced for review, then described retrospectively.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557784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" y="57150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557784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recompute from raw CSVs; every table and figure in the paper is a generated artifact — never hand-edited.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discrimination and operating point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989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pic>
        <p:nvPicPr>
          <p:cNvPr id="4" name="Image 0" descr="C:\Users\Vaibhav\projects\hackathon_projects\curago_paper_version\ds\models\paper\paper_fig1_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7150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74243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ROC, seed 42 — regenerated from ds/paper_figures.py.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766560" y="1234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49440" y="138074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0.742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949440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CV AUC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49440" y="2496312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0.719 logistic; 95% CI [0.728, 0.751]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418320" y="1234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0" y="138074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17.2%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9601200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under-triage, cross-fitted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0" y="2496312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85.9% at default t = 0.50; FPR 0.545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37033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49440" y="384962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0.829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6949440" y="4572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the chosen point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49440" y="4965192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0.214; thresholds 0.09–0.10 per outer fold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418320" y="37033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0" y="384962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0.113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9601200" y="4572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Brier, isotonic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601200" y="4965192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0.129 for a constant — calibration holds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Split-conformal recall control — marginal vs PAC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pic>
        <p:nvPicPr>
          <p:cNvPr id="4" name="Image 0" descr="C:\Users\Vaibhav\projects\hackathon_projects\curago_paper_version\ds\models\paper\paper_fig4_conformal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98448"/>
            <a:ext cx="5266944" cy="3438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01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distribution over 200 random splits, both rules, α = 0.15.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309360" y="1188720"/>
            <a:ext cx="533095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pic>
        <p:nvPicPr>
          <p:cNvPr id="7" name="Image 1" descr="C:\Users\Vaibhav\projects\hackathon_projects\curago_paper_version\ds\models\paper\paper_fig3_tradeo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298448"/>
            <a:ext cx="5111496" cy="3438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9011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Threshold–coverage trade-off, split means ± SD.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539496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BF0DE"/>
          </a:solidFill>
          <a:ln w="9525">
            <a:solidFill>
              <a:srgbClr val="E8D5AC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76656" y="5664708"/>
            <a:ext cx="329184" cy="329184"/>
          </a:xfrm>
          <a:prstGeom prst="ellipse">
            <a:avLst/>
          </a:prstGeom>
          <a:solidFill>
            <a:srgbClr val="8F52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5394960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rule: mean recall 0.884 (SD 0.033), yet 12.5% of splits fall below the 0.85 target — average-case only.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53912" y="539496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81928" y="566470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02552" y="5394960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rule (δ = 10%): mean recall 0.900, below-target splits cut to 3.5% at precision 0.191.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outbreak surveillance, described not claimed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pic>
        <p:nvPicPr>
          <p:cNvPr id="4" name="Image 0" descr="C:\Users\Vaibhav\projects\hackathon_projects\curago_paper_version\ds\models\paper\paper_fig5_outbrea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44168"/>
            <a:ext cx="6089904" cy="279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159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IsolationForest flags across 126,712 district-weeks — regenerated from ds/paper_figures.py.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6309360" cy="1280160"/>
          </a:xfrm>
          <a:prstGeom prst="roundRect">
            <a:avLst>
              <a:gd name="adj" fmla="val 5000"/>
            </a:avLst>
          </a:prstGeom>
          <a:solidFill>
            <a:srgbClr val="FBF0DE"/>
          </a:solidFill>
          <a:ln w="9525">
            <a:solidFill>
              <a:srgbClr val="E8D5AC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" y="5367528"/>
            <a:ext cx="329184" cy="329184"/>
          </a:xfrm>
          <a:prstGeom prst="ellipse">
            <a:avLst/>
          </a:prstGeom>
          <a:solidFill>
            <a:srgbClr val="8F52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4892040"/>
            <a:ext cx="5632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only: no labelled outbreak ground truth exists in routine district data [2]. Enrichment is retrospective description at a fixed budget — not a validated detector.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0" y="1234440"/>
            <a:ext cx="4553712" cy="1298448"/>
          </a:xfrm>
          <a:prstGeom prst="roundRect">
            <a:avLst>
              <a:gd name="adj" fmla="val 5634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132588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269480" y="18196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Delta-wave enrichment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214884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rate inside the wave vs background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86600" y="2752344"/>
            <a:ext cx="4553712" cy="1298448"/>
          </a:xfrm>
          <a:prstGeom prst="roundRect">
            <a:avLst>
              <a:gd name="adj" fmla="val 5634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69480" y="284378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269480" y="333756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over the wave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36667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fixed 5% alert budget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270248"/>
            <a:ext cx="4553712" cy="1298448"/>
          </a:xfrm>
          <a:prstGeom prst="roundRect">
            <a:avLst>
              <a:gd name="adj" fmla="val 5634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69480" y="436168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269480" y="485546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Delta weeks flagged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69480" y="518464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3.6% of weeks outside it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not claim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225296"/>
            <a:ext cx="457200" cy="457200"/>
          </a:xfrm>
          <a:prstGeom prst="ellipse">
            <a:avLst/>
          </a:prstGeom>
          <a:solidFill>
            <a:srgbClr val="FBF0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1188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rest on exchangeability — </a:t>
            </a:r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rule is average-case (12.5% of splits below target); PAC bounds that share at δ = 10%, but neither survives distribution shift.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76856"/>
            <a:ext cx="457200" cy="457200"/>
          </a:xfrm>
          <a:prstGeom prst="ellipse">
            <a:avLst/>
          </a:prstGeom>
          <a:solidFill>
            <a:srgbClr val="FBF0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22402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is unproven — </a:t>
            </a:r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US NHAMCS emergency-department data; rural Indian telemedicine casemix and workflow differ. External validation is future work, not a result.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FBF0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32918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not oracular — </a:t>
            </a:r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Brier 0.113 beats the constant 0.129 — but probabilities are not validated absolute risks; they drive thresholds, not quotations.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FBF0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4343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detection is descriptive — </a:t>
            </a:r>
            <a:pPr indent="0" marL="0">
              <a:buNone/>
            </a:pPr>
            <a:r>
              <a:rPr lang="en-US" sz="14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enrichment is retrospective description at a 5% budget; naive baselines and NEWS2 stay competitive (cutoff 1: precision 0.168, recall 0.669).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" y="576072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62356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mandated disclosures are machine-checked in paper/audit.py and pass — full text in Section V of the paper.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construction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22392" cy="1810512"/>
          </a:xfrm>
          <a:prstGeom prst="roundRect">
            <a:avLst>
              <a:gd name="adj" fmla="val 404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49961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35024" y="149961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data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68096" y="2057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stale raw file raises FileNotFoundError. No silent imputation, no synthetic backfill, no cached numbers on disk.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422392" cy="1810512"/>
          </a:xfrm>
          <a:prstGeom prst="roundRect">
            <a:avLst>
              <a:gd name="adj" fmla="val 404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7376" y="14996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04304" y="149961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42, byte-identical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37376" y="2057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runs produce identical CSVs and PNGs; published metrics are read back from generated artifacts at build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422392" cy="1810512"/>
          </a:xfrm>
          <a:prstGeom prst="roundRect">
            <a:avLst>
              <a:gd name="adj" fmla="val 404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529584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35024" y="352958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behind every number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8096" y="40873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LaTeX, Markdown, DOCX and this deck all resolve metrics from paper_numbers.json — zero hand-typed figures.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310128"/>
            <a:ext cx="5422392" cy="1810512"/>
          </a:xfrm>
          <a:prstGeom prst="roundRect">
            <a:avLst>
              <a:gd name="adj" fmla="val 4040"/>
            </a:avLst>
          </a:prstGeom>
          <a:solidFill>
            <a:srgbClr val="EFF7F7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352958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04304" y="352958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audits on every build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37376" y="40873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citations, originality, honesty disclosures and IEEE format are machine-checked — all pass.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CEBEB"/>
            </a:solidFill>
            <a:prstDash val="solid"/>
          </a:ln>
          <a:effectLst>
            <a:outerShdw sx="100000" sy="100000" kx="0" ky="0" algn="bl" rotWithShape="0" blurRad="88900" dist="25400" dir="5400000">
              <a:srgbClr val="7FA8AC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" y="580644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66928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github.com/vaibhav7087/curago_paper_version  ·  MIT licence  ·  data licences, URLs and retrieval dates in Data Availability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4754880" cy="475488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160020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public data, tuned without test-fold peeking, beats naive baselines on both tasks — AUC 0.742 for triage (cross-fitted under-triage 17.2%) and 7.0× outbreak enrichment — with protocol limits stated up front.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898648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must be priced: the marginal conformal rule leaves 12.5% of splits below target, and the PAC rule cuts that to 3.5% at δ = 10% — publish the failures alongside the mean.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4197096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a feature, not a footnote: fail-closed inputs, byte-identical seed-42 reruns, and one JSON behind every number in four output formats.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prospective validation on rural-Indian telemedicine casemix, drift monitoring, threshold re-tuning — SHAP, calibration and forecast artifacts ship with the repository.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577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National Center for Health Statistics, "National hospital ambulatory medical care survey: 2019 emergency department summary," Centers for Disease Control and Prevention (CDC), 2019, data documentation: https://ftp.cdc.gov/pub/Health_Statistics/NCHS/Dataset_Documentation/NHAMCS/doc19-ed-508.pdf. [Online]. Available: https://www.cdc.gov/nchs/nhamcs/documentation/about-the-data-2019.html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covid19india.com Data Operations Group and incovid19 Team, "Covid-19 india national and district-level time-series archive," Static data archive hosted at https://data.incovid19.org/, 2023, retrieved 2026-10-07. Retrospective observed series from 2020-04-26 to 2023-08-22 across 840 state-qualified districts.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Zdravković, "Pharma sales data: Point-of-sale transactional dataset resampled to monthly aggregates," Kaggle, 2019, license: Creative Commons Attribution-NonCommercial 4.0 International (CC BY-NC 4.0). [Online]. Available: https://www.kaggle.com/datasets/milanzdravkovic/pharma-sales-data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Royal College of Physicians, *National Early Warning Score (NEWS) 2: Standardising the Assessment of Acute-Illness Severity in the NHS*. London, UK: Royal College of Physicians, 2017, report of a working party.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G. B. Smith, D. R. Prytherch, P. Meredith, P. E. Schmidt, and P. I. Featherstone, "The ability of the National Early Warning Score (NEWS) to discriminate patients at risk of early death in acute medical admissions," *Resuscitation*, vol. 84, no. 4, pp. 465–470, 2013.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T. Chen and C. Guestrin, "XGBoost: A scalable tree boosting system," in *Proceedings of the 22nd ACM SIGKDD International Conference on Knowledge Discovery and Data Mining (KDD '16)*, 2016, pp. 785–794.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G. Ke, Q. Meng, T. Finley, T. Wang, W. Chen, W. Ma, Q. Ye, and T.-Y. Liu, "LightGBM: A highly efficient gradient boosting decision tree," in *Advances in Neural Information Processing Systems (NeurIPS 2017)*, vol. 30, 2017, pp. 3146–3154.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63640" y="1051560"/>
            <a:ext cx="55778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F. Pedregosa, G. Varoquaux, A. Gramfort, V. Michel, B. Thirion, O. Grisel, M. Blondel, P. Prettenhofer, R. Weiss, V. Dubourg, J. Vanderplas, A. Passos, D. Cournapeau, M. Brucher, M. Perrot, and É. Duchesnay, "Scikit-learn: Machine learning in Python," *Journal of Machine Learning Research (JMLR)*, vol. 12, pp. 2825–2830, 2011.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V. Vovk, A. Gammerman, and G. Shafer, *Algorithmic Learning in a Random World*. New York, NY, USA: Springer Science &amp; Business Media, 2005.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A. N. Angelopoulos and S. Bates, "A gentle introduction to conformal prediction and distribution-free uncertainty quantification," *arXiv preprint arXiv:2107.07511*, 2021.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S. M. Lundberg and S.-I. Lee, "A unified approach to interpreting model predictions," in *Advances in Neural Information Processing Systems (NeurIPS 2017)*, vol. 30, 2017, pp. 4765–4774.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J. Clarke, M. U. G. Kraemer, and et al., "OpenDengue: Data platform for global dengue surveillance," *Scientific Data*, vol. 11, no. 1, p. 324, 2024.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355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S. Seabold and J. Perktold, "Statsmodels: Econometric and statistical modeling with Python," in *Proceedings of the 9th Python in Science Conference (SciPy 2010)*, 2010, pp. 92–96.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Real-Data Machine Learning for Telemedicine Triage and Outbreak Surveillance</dc:title>
  <dc:subject>Nexathon II paper presentation</dc:subject>
  <dc:creator>Placeholder Department</dc:creator>
  <cp:lastModifiedBy>Placeholder Department</cp:lastModifiedBy>
  <cp:revision>1</cp:revision>
  <dcterms:created xsi:type="dcterms:W3CDTF">2026-10-08T07:47:30Z</dcterms:created>
  <dcterms:modified xsi:type="dcterms:W3CDTF">2026-10-08T07:47:30Z</dcterms:modified>
</cp:coreProperties>
</file>